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60" d="100"/>
          <a:sy n="60" d="100"/>
        </p:scale>
        <p:origin x="1522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eremy DeGardeyn" userId="435f2bff-9518-438a-9ba6-c3e5a6048853" providerId="ADAL" clId="{4C4826F6-DA53-4A8B-A5FA-695CCD2A5463}"/>
    <pc:docChg chg="custSel mod modSld modMainMaster">
      <pc:chgData name="Jeremy DeGardeyn" userId="435f2bff-9518-438a-9ba6-c3e5a6048853" providerId="ADAL" clId="{4C4826F6-DA53-4A8B-A5FA-695CCD2A5463}" dt="2026-07-15T20:40:13.487" v="31" actId="478"/>
      <pc:docMkLst>
        <pc:docMk/>
      </pc:docMkLst>
      <pc:sldChg chg="delSp mod">
        <pc:chgData name="Jeremy DeGardeyn" userId="435f2bff-9518-438a-9ba6-c3e5a6048853" providerId="ADAL" clId="{4C4826F6-DA53-4A8B-A5FA-695CCD2A5463}" dt="2026-07-15T20:40:13.487" v="31" actId="478"/>
        <pc:sldMkLst>
          <pc:docMk/>
          <pc:sldMk cId="0" sldId="256"/>
        </pc:sldMkLst>
        <pc:spChg chg="del">
          <ac:chgData name="Jeremy DeGardeyn" userId="435f2bff-9518-438a-9ba6-c3e5a6048853" providerId="ADAL" clId="{4C4826F6-DA53-4A8B-A5FA-695CCD2A5463}" dt="2026-07-15T20:40:13.487" v="31" actId="478"/>
          <ac:spMkLst>
            <pc:docMk/>
            <pc:sldMk cId="0" sldId="256"/>
            <ac:spMk id="14" creationId="{00000000-0000-0000-0000-000000000000}"/>
          </ac:spMkLst>
        </pc:spChg>
      </pc:sldChg>
      <pc:sldChg chg="delSp modSp mod">
        <pc:chgData name="Jeremy DeGardeyn" userId="435f2bff-9518-438a-9ba6-c3e5a6048853" providerId="ADAL" clId="{4C4826F6-DA53-4A8B-A5FA-695CCD2A5463}" dt="2026-07-15T19:40:26.777" v="28" actId="20577"/>
        <pc:sldMkLst>
          <pc:docMk/>
          <pc:sldMk cId="0" sldId="264"/>
        </pc:sldMkLst>
        <pc:spChg chg="mod">
          <ac:chgData name="Jeremy DeGardeyn" userId="435f2bff-9518-438a-9ba6-c3e5a6048853" providerId="ADAL" clId="{4C4826F6-DA53-4A8B-A5FA-695CCD2A5463}" dt="2026-07-15T19:40:26.777" v="28" actId="20577"/>
          <ac:spMkLst>
            <pc:docMk/>
            <pc:sldMk cId="0" sldId="264"/>
            <ac:spMk id="2" creationId="{00000000-0000-0000-0000-000000000000}"/>
          </ac:spMkLst>
        </pc:spChg>
        <pc:spChg chg="del mod">
          <ac:chgData name="Jeremy DeGardeyn" userId="435f2bff-9518-438a-9ba6-c3e5a6048853" providerId="ADAL" clId="{4C4826F6-DA53-4A8B-A5FA-695CCD2A5463}" dt="2026-07-15T19:39:22.171" v="1" actId="478"/>
          <ac:spMkLst>
            <pc:docMk/>
            <pc:sldMk cId="0" sldId="264"/>
            <ac:spMk id="13" creationId="{00000000-0000-0000-0000-000000000000}"/>
          </ac:spMkLst>
        </pc:spChg>
        <pc:spChg chg="del">
          <ac:chgData name="Jeremy DeGardeyn" userId="435f2bff-9518-438a-9ba6-c3e5a6048853" providerId="ADAL" clId="{4C4826F6-DA53-4A8B-A5FA-695CCD2A5463}" dt="2026-07-15T19:39:23.736" v="2" actId="478"/>
          <ac:spMkLst>
            <pc:docMk/>
            <pc:sldMk cId="0" sldId="264"/>
            <ac:spMk id="14" creationId="{00000000-0000-0000-0000-000000000000}"/>
          </ac:spMkLst>
        </pc:spChg>
        <pc:spChg chg="del">
          <ac:chgData name="Jeremy DeGardeyn" userId="435f2bff-9518-438a-9ba6-c3e5a6048853" providerId="ADAL" clId="{4C4826F6-DA53-4A8B-A5FA-695CCD2A5463}" dt="2026-07-15T19:39:49.437" v="13" actId="478"/>
          <ac:spMkLst>
            <pc:docMk/>
            <pc:sldMk cId="0" sldId="264"/>
            <ac:spMk id="15" creationId="{00000000-0000-0000-0000-000000000000}"/>
          </ac:spMkLst>
        </pc:spChg>
        <pc:spChg chg="mod">
          <ac:chgData name="Jeremy DeGardeyn" userId="435f2bff-9518-438a-9ba6-c3e5a6048853" providerId="ADAL" clId="{4C4826F6-DA53-4A8B-A5FA-695CCD2A5463}" dt="2026-07-15T19:39:24.864" v="3" actId="6549"/>
          <ac:spMkLst>
            <pc:docMk/>
            <pc:sldMk cId="0" sldId="264"/>
            <ac:spMk id="16" creationId="{00000000-0000-0000-0000-000000000000}"/>
          </ac:spMkLst>
        </pc:spChg>
        <pc:spChg chg="del mod">
          <ac:chgData name="Jeremy DeGardeyn" userId="435f2bff-9518-438a-9ba6-c3e5a6048853" providerId="ADAL" clId="{4C4826F6-DA53-4A8B-A5FA-695CCD2A5463}" dt="2026-07-15T19:40:15.405" v="22" actId="21"/>
          <ac:spMkLst>
            <pc:docMk/>
            <pc:sldMk cId="0" sldId="264"/>
            <ac:spMk id="17" creationId="{00000000-0000-0000-0000-000000000000}"/>
          </ac:spMkLst>
        </pc:spChg>
        <pc:spChg chg="del">
          <ac:chgData name="Jeremy DeGardeyn" userId="435f2bff-9518-438a-9ba6-c3e5a6048853" providerId="ADAL" clId="{4C4826F6-DA53-4A8B-A5FA-695CCD2A5463}" dt="2026-07-15T19:39:48.144" v="12" actId="478"/>
          <ac:spMkLst>
            <pc:docMk/>
            <pc:sldMk cId="0" sldId="264"/>
            <ac:spMk id="18" creationId="{00000000-0000-0000-0000-000000000000}"/>
          </ac:spMkLst>
        </pc:spChg>
        <pc:spChg chg="mod">
          <ac:chgData name="Jeremy DeGardeyn" userId="435f2bff-9518-438a-9ba6-c3e5a6048853" providerId="ADAL" clId="{4C4826F6-DA53-4A8B-A5FA-695CCD2A5463}" dt="2026-07-15T19:39:40.468" v="9" actId="6549"/>
          <ac:spMkLst>
            <pc:docMk/>
            <pc:sldMk cId="0" sldId="264"/>
            <ac:spMk id="19" creationId="{00000000-0000-0000-0000-000000000000}"/>
          </ac:spMkLst>
        </pc:spChg>
        <pc:spChg chg="del">
          <ac:chgData name="Jeremy DeGardeyn" userId="435f2bff-9518-438a-9ba6-c3e5a6048853" providerId="ADAL" clId="{4C4826F6-DA53-4A8B-A5FA-695CCD2A5463}" dt="2026-07-15T19:40:07.203" v="19" actId="21"/>
          <ac:spMkLst>
            <pc:docMk/>
            <pc:sldMk cId="0" sldId="264"/>
            <ac:spMk id="20" creationId="{00000000-0000-0000-0000-000000000000}"/>
          </ac:spMkLst>
        </pc:spChg>
        <pc:spChg chg="del">
          <ac:chgData name="Jeremy DeGardeyn" userId="435f2bff-9518-438a-9ba6-c3e5a6048853" providerId="ADAL" clId="{4C4826F6-DA53-4A8B-A5FA-695CCD2A5463}" dt="2026-07-15T19:39:51.444" v="14" actId="478"/>
          <ac:spMkLst>
            <pc:docMk/>
            <pc:sldMk cId="0" sldId="264"/>
            <ac:spMk id="21" creationId="{00000000-0000-0000-0000-000000000000}"/>
          </ac:spMkLst>
        </pc:spChg>
        <pc:spChg chg="del">
          <ac:chgData name="Jeremy DeGardeyn" userId="435f2bff-9518-438a-9ba6-c3e5a6048853" providerId="ADAL" clId="{4C4826F6-DA53-4A8B-A5FA-695CCD2A5463}" dt="2026-07-15T19:40:04.054" v="18" actId="21"/>
          <ac:spMkLst>
            <pc:docMk/>
            <pc:sldMk cId="0" sldId="264"/>
            <ac:spMk id="23" creationId="{00000000-0000-0000-0000-000000000000}"/>
          </ac:spMkLst>
        </pc:spChg>
        <pc:spChg chg="del">
          <ac:chgData name="Jeremy DeGardeyn" userId="435f2bff-9518-438a-9ba6-c3e5a6048853" providerId="ADAL" clId="{4C4826F6-DA53-4A8B-A5FA-695CCD2A5463}" dt="2026-07-15T19:39:55.024" v="15" actId="478"/>
          <ac:spMkLst>
            <pc:docMk/>
            <pc:sldMk cId="0" sldId="264"/>
            <ac:spMk id="24" creationId="{00000000-0000-0000-0000-000000000000}"/>
          </ac:spMkLst>
        </pc:spChg>
        <pc:spChg chg="del mod">
          <ac:chgData name="Jeremy DeGardeyn" userId="435f2bff-9518-438a-9ba6-c3e5a6048853" providerId="ADAL" clId="{4C4826F6-DA53-4A8B-A5FA-695CCD2A5463}" dt="2026-07-15T19:40:00.309" v="17" actId="21"/>
          <ac:spMkLst>
            <pc:docMk/>
            <pc:sldMk cId="0" sldId="264"/>
            <ac:spMk id="26" creationId="{00000000-0000-0000-0000-000000000000}"/>
          </ac:spMkLst>
        </pc:spChg>
        <pc:spChg chg="del">
          <ac:chgData name="Jeremy DeGardeyn" userId="435f2bff-9518-438a-9ba6-c3e5a6048853" providerId="ADAL" clId="{4C4826F6-DA53-4A8B-A5FA-695CCD2A5463}" dt="2026-07-15T19:39:44.705" v="11" actId="478"/>
          <ac:spMkLst>
            <pc:docMk/>
            <pc:sldMk cId="0" sldId="264"/>
            <ac:spMk id="27" creationId="{00000000-0000-0000-0000-000000000000}"/>
          </ac:spMkLst>
        </pc:spChg>
        <pc:spChg chg="del">
          <ac:chgData name="Jeremy DeGardeyn" userId="435f2bff-9518-438a-9ba6-c3e5a6048853" providerId="ADAL" clId="{4C4826F6-DA53-4A8B-A5FA-695CCD2A5463}" dt="2026-07-15T19:39:38.412" v="8" actId="21"/>
          <ac:spMkLst>
            <pc:docMk/>
            <pc:sldMk cId="0" sldId="264"/>
            <ac:spMk id="29" creationId="{00000000-0000-0000-0000-000000000000}"/>
          </ac:spMkLst>
        </pc:spChg>
        <pc:spChg chg="del">
          <ac:chgData name="Jeremy DeGardeyn" userId="435f2bff-9518-438a-9ba6-c3e5a6048853" providerId="ADAL" clId="{4C4826F6-DA53-4A8B-A5FA-695CCD2A5463}" dt="2026-07-15T19:39:43.215" v="10" actId="478"/>
          <ac:spMkLst>
            <pc:docMk/>
            <pc:sldMk cId="0" sldId="264"/>
            <ac:spMk id="30" creationId="{00000000-0000-0000-0000-000000000000}"/>
          </ac:spMkLst>
        </pc:spChg>
        <pc:spChg chg="del mod">
          <ac:chgData name="Jeremy DeGardeyn" userId="435f2bff-9518-438a-9ba6-c3e5a6048853" providerId="ADAL" clId="{4C4826F6-DA53-4A8B-A5FA-695CCD2A5463}" dt="2026-07-15T19:39:34.402" v="7" actId="21"/>
          <ac:spMkLst>
            <pc:docMk/>
            <pc:sldMk cId="0" sldId="264"/>
            <ac:spMk id="32" creationId="{00000000-0000-0000-0000-000000000000}"/>
          </ac:spMkLst>
        </pc:spChg>
      </pc:sldChg>
      <pc:sldChg chg="delSp modSp mod">
        <pc:chgData name="Jeremy DeGardeyn" userId="435f2bff-9518-438a-9ba6-c3e5a6048853" providerId="ADAL" clId="{4C4826F6-DA53-4A8B-A5FA-695CCD2A5463}" dt="2026-07-15T19:40:58.442" v="30" actId="21"/>
        <pc:sldMkLst>
          <pc:docMk/>
          <pc:sldMk cId="0" sldId="265"/>
        </pc:sldMkLst>
        <pc:spChg chg="del mod">
          <ac:chgData name="Jeremy DeGardeyn" userId="435f2bff-9518-438a-9ba6-c3e5a6048853" providerId="ADAL" clId="{4C4826F6-DA53-4A8B-A5FA-695CCD2A5463}" dt="2026-07-15T19:40:58.442" v="30" actId="21"/>
          <ac:spMkLst>
            <pc:docMk/>
            <pc:sldMk cId="0" sldId="265"/>
            <ac:spMk id="14" creationId="{00000000-0000-0000-0000-000000000000}"/>
          </ac:spMkLst>
        </pc:spChg>
      </pc:sldChg>
      <pc:sldMasterChg chg="addSp mod">
        <pc:chgData name="Jeremy DeGardeyn" userId="435f2bff-9518-438a-9ba6-c3e5a6048853" providerId="ADAL" clId="{4C4826F6-DA53-4A8B-A5FA-695CCD2A5463}" dt="2026-07-15T19:39:30.597" v="4" actId="33475"/>
        <pc:sldMasterMkLst>
          <pc:docMk/>
          <pc:sldMasterMk cId="0" sldId="2147483648"/>
        </pc:sldMasterMkLst>
        <pc:spChg chg="add">
          <ac:chgData name="Jeremy DeGardeyn" userId="435f2bff-9518-438a-9ba6-c3e5a6048853" providerId="ADAL" clId="{4C4826F6-DA53-4A8B-A5FA-695CCD2A5463}" dt="2026-07-15T19:39:30.597" v="4" actId="33475"/>
          <ac:spMkLst>
            <pc:docMk/>
            <pc:sldMasterMk cId="0" sldId="2147483648"/>
            <ac:spMk id="3" creationId="{77D46EFF-4A0C-1FCE-4639-3A77ECABB405}"/>
          </ac:spMkLst>
        </pc:sp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418165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POC ran end-to-end on a GCP project + Snowflake AWS trial: catalog federation, WIF keyless auth, streaming and batch Dataflow ingestion, and a config-driven validation harness. Everything on this deck is implemented and measured, not proposed.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cost doesn't disappear — it moves from standing storage + pipeline ops to per-query egress. ADR-0006 bounds that with a measured 30-day break-even review per 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cross-cloud paths only: metadata+auth over the REST API, and pruned Parquet reads billed as DATA_LAKE egress. The producers keep their native engines on GCP.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ADR-0004. Two live gotchas: the serviceusage.serviceUsageConsumer role is required by the x-goog-user-project header, and CREATE OR REPLACE on the catalog integration mints a NEW WIF subject that must be re-granted.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Six lightweight MADR records in docs/adr/. These three define what is shared and through what contract.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ADR-0006 makes partitioning quality a cost lever, not just performance — Snowflake fetches pruned byte ranges, so producer-side layout controls the egress bill.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Streaming avoids the 1-hour static-token limitation in Google's guide by passing GoogleAuthManager through catalog properties — auth refreshes indefinitely. Archive is event-driven because batch jobs (~12 min) outlive the 540s event-function limit and the flex launcher's wait_until_finish() is a no-op.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Zero-copy makes the middle comparison nearly tautological — Snowflake reads the same files — so the expensive completeness check of a replication architecture reduces to a freshness check here. Production shape: same script as a Cloud Run job on a Scheduler cron + post-batch event.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latency numbers are observed on a trial account — the CLD refresh gap between nominal 30s and observed 1-10 min is exactly why ADR-0006 says instrument from day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Close: the POC didn't just prove the happy path — the as-run log documents every failure and fix, which is the difference between a demo and an architecture you can defend.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7D46EFF-4A0C-1FCE-4639-3A77ECABB405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5763387" y="6642100"/>
            <a:ext cx="690563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US" sz="1000">
                <a:solidFill>
                  <a:srgbClr val="000000">
                    <a:alpha val="50000"/>
                  </a:srgbClr>
                </a:solidFill>
                <a:latin typeface="Aptos" panose="020B0004020202020204" pitchFamily="34" charset="0"/>
              </a:rPr>
              <a:t>Internal Use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4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7772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kern="0" spc="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ICEBERG ZERO-COPY POC  ·  ARCHITECTURE &amp; RESULTS  ·  JULY 2026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22960" y="141732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copy of the data.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822960" y="2606040"/>
            <a:ext cx="9692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GCS-resident Apache Iceberg tables, read in place by Snowflake on AWS — keyless trust, config-driven streaming and batch ingestion, and integrity controls that reconcile to the penny.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822960" y="4160520"/>
            <a:ext cx="3291840" cy="1371600"/>
          </a:xfrm>
          <a:prstGeom prst="roundRect">
            <a:avLst>
              <a:gd name="adj" fmla="val 6667"/>
            </a:avLst>
          </a:prstGeom>
          <a:solidFill>
            <a:srgbClr val="1A3A5C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051560" y="429768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1051560" y="4956048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authoritative copy, in GCS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480560" y="4160520"/>
            <a:ext cx="3291840" cy="1371600"/>
          </a:xfrm>
          <a:prstGeom prst="roundRect">
            <a:avLst>
              <a:gd name="adj" fmla="val 6667"/>
            </a:avLst>
          </a:prstGeom>
          <a:solidFill>
            <a:srgbClr val="1A3A5C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709160" y="429768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4709160" y="4956048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standing credentials anywhere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138160" y="4160520"/>
            <a:ext cx="3291840" cy="1371600"/>
          </a:xfrm>
          <a:prstGeom prst="roundRect">
            <a:avLst>
              <a:gd name="adj" fmla="val 6667"/>
            </a:avLst>
          </a:prstGeom>
          <a:solidFill>
            <a:srgbClr val="1A3A5C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8366760" y="429768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PASS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8366760" y="4956048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3-way integrity reconciliation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F24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Expose the data — don’t copy it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5440680" cy="3383280"/>
          </a:xfrm>
          <a:prstGeom prst="roundRect">
            <a:avLst>
              <a:gd name="adj" fmla="val 2162"/>
            </a:avLst>
          </a:prstGeom>
          <a:solidFill>
            <a:srgbClr val="F4F9FC"/>
          </a:solidFill>
          <a:ln w="12700">
            <a:solidFill>
              <a:srgbClr val="D5E2EC"/>
            </a:solidFill>
            <a:prstDash val="solid"/>
          </a:ln>
          <a:effectLst>
            <a:outerShdw blurRad="76200" dist="25400" dir="5400000" algn="bl" rotWithShape="0">
              <a:srgbClr val="9AB0C4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868680" y="137160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3347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Traditional: replicate into the EDW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68680" y="1874520"/>
            <a:ext cx="48920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second physical copy — storage billed twice, forever</a:t>
            </a:r>
            <a:endParaRPr lang="en-US" sz="1400" dirty="0"/>
          </a:p>
          <a:p>
            <a:pPr marL="342900" indent="-342900" algn="l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pipeline per feed to build, schedule, and monitor</a:t>
            </a:r>
            <a:endParaRPr lang="en-US" sz="1400" dirty="0"/>
          </a:p>
          <a:p>
            <a:pPr marL="342900" indent="-342900" algn="l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Freshness = pipeline lag; divergence needs its own monitoring</a:t>
            </a:r>
            <a:endParaRPr lang="en-US" sz="1400" dirty="0"/>
          </a:p>
          <a:p>
            <a:pPr marL="342900" indent="-342900" algn="l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sharing contract is locked to one vendor’s mechanism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263640" y="1143000"/>
            <a:ext cx="5394960" cy="3383280"/>
          </a:xfrm>
          <a:prstGeom prst="roundRect">
            <a:avLst>
              <a:gd name="adj" fmla="val 2162"/>
            </a:avLst>
          </a:prstGeom>
          <a:solidFill>
            <a:srgbClr val="EAF3F8"/>
          </a:solidFill>
          <a:ln w="12700">
            <a:solidFill>
              <a:srgbClr val="1C7293"/>
            </a:solidFill>
            <a:prstDash val="solid"/>
          </a:ln>
          <a:effectLst>
            <a:outerShdw blurRad="76200" dist="25400" dir="5400000" algn="bl" rotWithShape="0">
              <a:srgbClr val="9AB0C4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583680" y="137160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This design: zero-copy federation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583680" y="1874520"/>
            <a:ext cx="48463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authoritative copy in GCS; Iceberg owns the contract</a:t>
            </a:r>
            <a:endParaRPr lang="en-US" sz="1400" dirty="0"/>
          </a:p>
          <a:p>
            <a:pPr marL="342900" indent="-342900" algn="l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Snowflake reads the latest committed snapshot in place</a:t>
            </a:r>
            <a:endParaRPr lang="en-US" sz="1400" dirty="0"/>
          </a:p>
          <a:p>
            <a:pPr marL="342900" indent="-342900" algn="l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Freshness is inherent — no pipeline exists to lag</a:t>
            </a:r>
            <a:endParaRPr lang="en-US" sz="1400" dirty="0"/>
          </a:p>
          <a:p>
            <a:pPr marL="342900" indent="-342900" algn="l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Iceberg-capable engine can join later; choices stay reversible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4892040"/>
            <a:ext cx="35204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5E2EC"/>
            </a:solidFill>
            <a:prstDash val="solid"/>
          </a:ln>
          <a:effectLst>
            <a:outerShdw blurRad="76200" dist="25400" dir="5400000" algn="bl" rotWithShape="0">
              <a:srgbClr val="9AB0C4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777240" y="502920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$0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777240" y="566928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6B7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 storage bill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343400" y="4892040"/>
            <a:ext cx="35204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5E2EC"/>
            </a:solidFill>
            <a:prstDash val="solid"/>
          </a:ln>
          <a:effectLst>
            <a:outerShdw blurRad="76200" dist="25400" dir="5400000" algn="bl" rotWithShape="0">
              <a:srgbClr val="9AB0C4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572000" y="502920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~90 s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4572000" y="566928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6B7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 → Iceberg commit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138160" y="4892040"/>
            <a:ext cx="35204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5E2EC"/>
            </a:solidFill>
            <a:prstDash val="solid"/>
          </a:ln>
          <a:effectLst>
            <a:outerShdw blurRad="76200" dist="25400" dir="5400000" algn="bl" rotWithShape="0">
              <a:srgbClr val="9AB0C4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8366760" y="502920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961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$90–155 / TB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8366760" y="566928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6B7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egress — only when queried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F24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System context — data never leaves GCS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5760720" cy="4343400"/>
          </a:xfrm>
          <a:prstGeom prst="roundRect">
            <a:avLst>
              <a:gd name="adj" fmla="val 1263"/>
            </a:avLst>
          </a:prstGeom>
          <a:solidFill>
            <a:srgbClr val="F4F9FC"/>
          </a:solidFill>
          <a:ln w="15875">
            <a:solidFill>
              <a:srgbClr val="B9CF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77240" y="129844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6B7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GCP  ·  data owner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14400" y="1828800"/>
            <a:ext cx="2103120" cy="10515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5875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914400" y="1828800"/>
            <a:ext cx="2103120" cy="10515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Producers</a:t>
            </a:r>
            <a:endParaRPr lang="en-US" sz="14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6B7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 · Dataflow · BigQuery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794760" y="1828800"/>
            <a:ext cx="224028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5875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3794760" y="1828800"/>
            <a:ext cx="2240280" cy="11887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Lakehouse catalog</a:t>
            </a:r>
            <a:endParaRPr lang="en-US" sz="14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6B7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Iceberg REST endpoint</a:t>
            </a:r>
            <a:endParaRPr lang="en-US" sz="14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6B7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(BigLake metastore)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148840" y="406908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DDEBF4"/>
          </a:solidFill>
          <a:ln w="15875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2148840" y="4069080"/>
            <a:ext cx="3108960" cy="11430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GCS bucket</a:t>
            </a:r>
            <a:endParaRPr lang="en-US" sz="14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6B7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Iceberg tables — single source of truth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017520" y="2331720"/>
            <a:ext cx="777240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2999232" y="202996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965960" y="2880360"/>
            <a:ext cx="1051560" cy="118872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1417320" y="338328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files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 flipV="1">
            <a:off x="4389120" y="3017520"/>
            <a:ext cx="502920" cy="1051560"/>
          </a:xfrm>
          <a:prstGeom prst="line">
            <a:avLst/>
          </a:prstGeom>
          <a:noFill/>
          <a:ln w="22225">
            <a:solidFill>
              <a:srgbClr val="1C7293"/>
            </a:solidFill>
            <a:prstDash val="dash"/>
            <a:head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526280" y="340156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B7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metadata pointers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818120" y="1188720"/>
            <a:ext cx="3840480" cy="4343400"/>
          </a:xfrm>
          <a:prstGeom prst="roundRect">
            <a:avLst>
              <a:gd name="adj" fmla="val 1429"/>
            </a:avLst>
          </a:prstGeom>
          <a:solidFill>
            <a:srgbClr val="F4F9FC"/>
          </a:solidFill>
          <a:ln w="15875">
            <a:solidFill>
              <a:srgbClr val="B9CF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8046720" y="1298448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6B7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 ·  consumer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183880" y="1828800"/>
            <a:ext cx="310896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5875">
            <a:solidFill>
              <a:srgbClr val="29B5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8183880" y="1828800"/>
            <a:ext cx="3108960" cy="11887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Snowflake</a:t>
            </a:r>
            <a:endParaRPr lang="en-US" sz="14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6B7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catalog-linked database</a:t>
            </a:r>
            <a:endParaRPr lang="en-US" sz="14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6B7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(read-only)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8183880" y="4069080"/>
            <a:ext cx="310896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5875">
            <a:solidFill>
              <a:srgbClr val="29B5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8183880" y="4069080"/>
            <a:ext cx="3108960" cy="10058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warehouses</a:t>
            </a:r>
            <a:endParaRPr lang="en-US" sz="14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6B7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compute, billed per second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9738360" y="3017520"/>
            <a:ext cx="0" cy="1051560"/>
          </a:xfrm>
          <a:prstGeom prst="line">
            <a:avLst/>
          </a:prstGeom>
          <a:noFill/>
          <a:ln w="22225">
            <a:solidFill>
              <a:srgbClr val="29B5E8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 flipV="1">
            <a:off x="6035040" y="2286000"/>
            <a:ext cx="2148840" cy="0"/>
          </a:xfrm>
          <a:prstGeom prst="line">
            <a:avLst/>
          </a:prstGeom>
          <a:noFill/>
          <a:ln w="28575">
            <a:solidFill>
              <a:srgbClr val="065A82"/>
            </a:solidFill>
            <a:prstDash val="solid"/>
            <a:head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6126480" y="178308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Iceberg REST (HTTPS)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metadata + auth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 flipV="1">
            <a:off x="5257800" y="4572000"/>
            <a:ext cx="2926080" cy="0"/>
          </a:xfrm>
          <a:prstGeom prst="line">
            <a:avLst/>
          </a:prstGeom>
          <a:noFill/>
          <a:ln w="28575">
            <a:solidFill>
              <a:srgbClr val="F96167"/>
            </a:solidFill>
            <a:prstDash val="solid"/>
            <a:head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5349240" y="4681728"/>
            <a:ext cx="2788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pruned Parquet byte-range reads (egress $)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48640" y="58978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i="1" dirty="0">
                <a:solidFill>
                  <a:srgbClr val="6B7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Snowflake discovers tables through the REST catalog and scans Parquet in place. Iceberg pruning means it fetches byte ranges, not tables.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F24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Keyless trust — WIF token exchange + credential vending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234440"/>
            <a:ext cx="1920240" cy="548640"/>
          </a:xfrm>
          <a:prstGeom prst="roundRect">
            <a:avLst>
              <a:gd name="adj" fmla="val 10000"/>
            </a:avLst>
          </a:prstGeom>
          <a:solidFill>
            <a:srgbClr val="0F2440"/>
          </a:solidFill>
          <a:ln w="15875">
            <a:solidFill>
              <a:srgbClr val="0F24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640080" y="1234440"/>
            <a:ext cx="192024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Snowflake (AWS)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600200" y="1783080"/>
            <a:ext cx="0" cy="3794760"/>
          </a:xfrm>
          <a:prstGeom prst="line">
            <a:avLst/>
          </a:prstGeom>
          <a:noFill/>
          <a:ln w="12700">
            <a:solidFill>
              <a:srgbClr val="D5E2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3657600" y="1234440"/>
            <a:ext cx="1920240" cy="548640"/>
          </a:xfrm>
          <a:prstGeom prst="roundRect">
            <a:avLst>
              <a:gd name="adj" fmla="val 10000"/>
            </a:avLst>
          </a:prstGeom>
          <a:solidFill>
            <a:srgbClr val="0F2440"/>
          </a:solidFill>
          <a:ln w="15875">
            <a:solidFill>
              <a:srgbClr val="0F24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3657600" y="1234440"/>
            <a:ext cx="192024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STS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617720" y="1783080"/>
            <a:ext cx="0" cy="3794760"/>
          </a:xfrm>
          <a:prstGeom prst="line">
            <a:avLst/>
          </a:prstGeom>
          <a:noFill/>
          <a:ln w="12700">
            <a:solidFill>
              <a:srgbClr val="D5E2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6675120" y="1234440"/>
            <a:ext cx="1920240" cy="548640"/>
          </a:xfrm>
          <a:prstGeom prst="roundRect">
            <a:avLst>
              <a:gd name="adj" fmla="val 10000"/>
            </a:avLst>
          </a:prstGeom>
          <a:solidFill>
            <a:srgbClr val="0F2440"/>
          </a:solidFill>
          <a:ln w="15875">
            <a:solidFill>
              <a:srgbClr val="0F24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675120" y="1234440"/>
            <a:ext cx="192024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Iceberg REST catalog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635240" y="1783080"/>
            <a:ext cx="0" cy="3794760"/>
          </a:xfrm>
          <a:prstGeom prst="line">
            <a:avLst/>
          </a:prstGeom>
          <a:noFill/>
          <a:ln w="12700">
            <a:solidFill>
              <a:srgbClr val="D5E2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9692640" y="1234440"/>
            <a:ext cx="1920240" cy="548640"/>
          </a:xfrm>
          <a:prstGeom prst="roundRect">
            <a:avLst>
              <a:gd name="adj" fmla="val 10000"/>
            </a:avLst>
          </a:prstGeom>
          <a:solidFill>
            <a:srgbClr val="0F2440"/>
          </a:solidFill>
          <a:ln w="15875">
            <a:solidFill>
              <a:srgbClr val="0F24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9692640" y="1234440"/>
            <a:ext cx="192024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GCS bucket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10652760" y="1783080"/>
            <a:ext cx="0" cy="3794760"/>
          </a:xfrm>
          <a:prstGeom prst="line">
            <a:avLst/>
          </a:prstGeom>
          <a:noFill/>
          <a:ln w="12700">
            <a:solidFill>
              <a:srgbClr val="D5E2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1600200" y="2240280"/>
            <a:ext cx="301752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1197864" y="2084832"/>
            <a:ext cx="310896" cy="310896"/>
          </a:xfrm>
          <a:prstGeom prst="ellipse">
            <a:avLst/>
          </a:prstGeom>
          <a:solidFill>
            <a:srgbClr val="0F2440"/>
          </a:solidFill>
          <a:ln w="12700">
            <a:solidFill>
              <a:srgbClr val="0F24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1170432" y="2066544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737360" y="185623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Exchange Snowflake OIDC token  (grant: TOKEN_EXCHANGE)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 flipV="1">
            <a:off x="1600200" y="2953512"/>
            <a:ext cx="3017520" cy="0"/>
          </a:xfrm>
          <a:prstGeom prst="line">
            <a:avLst/>
          </a:prstGeom>
          <a:noFill/>
          <a:ln w="25400">
            <a:solidFill>
              <a:srgbClr val="02C39A"/>
            </a:solidFill>
            <a:prstDash val="dash"/>
            <a:head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1197864" y="2798064"/>
            <a:ext cx="310896" cy="310896"/>
          </a:xfrm>
          <a:prstGeom prst="ellipse">
            <a:avLst/>
          </a:prstGeom>
          <a:solidFill>
            <a:srgbClr val="0F2440"/>
          </a:solidFill>
          <a:ln w="12700">
            <a:solidFill>
              <a:srgbClr val="0F24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1170432" y="2779776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737360" y="2569464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Short-lived GCP access token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1600200" y="3666744"/>
            <a:ext cx="603504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1197864" y="3511296"/>
            <a:ext cx="310896" cy="310896"/>
          </a:xfrm>
          <a:prstGeom prst="ellipse">
            <a:avLst/>
          </a:prstGeom>
          <a:solidFill>
            <a:srgbClr val="0F2440"/>
          </a:solidFill>
          <a:ln w="12700">
            <a:solidFill>
              <a:srgbClr val="0F24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1170432" y="3493008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737360" y="3282696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LoadTable  +  X-Iceberg-Access-Delegation: vended-credentials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 flipV="1">
            <a:off x="1600200" y="4379976"/>
            <a:ext cx="6035040" cy="0"/>
          </a:xfrm>
          <a:prstGeom prst="line">
            <a:avLst/>
          </a:prstGeom>
          <a:noFill/>
          <a:ln w="25400">
            <a:solidFill>
              <a:srgbClr val="02C39A"/>
            </a:solidFill>
            <a:prstDash val="dash"/>
            <a:head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1197864" y="4224528"/>
            <a:ext cx="310896" cy="310896"/>
          </a:xfrm>
          <a:prstGeom prst="ellipse">
            <a:avLst/>
          </a:prstGeom>
          <a:solidFill>
            <a:srgbClr val="0F2440"/>
          </a:solidFill>
          <a:ln w="12700">
            <a:solidFill>
              <a:srgbClr val="0F24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1170432" y="4206240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1737360" y="3995928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metadata.json location  +  vended, table-scoped GCS credentials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1600200" y="5093208"/>
            <a:ext cx="905256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1197864" y="4937760"/>
            <a:ext cx="310896" cy="310896"/>
          </a:xfrm>
          <a:prstGeom prst="ellipse">
            <a:avLst/>
          </a:prstGeom>
          <a:solidFill>
            <a:srgbClr val="0F2440"/>
          </a:solidFill>
          <a:ln w="12700">
            <a:solidFill>
              <a:srgbClr val="0F24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1170432" y="4919472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1737360" y="4709160"/>
            <a:ext cx="8778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manifests + pruned Parquet byte ranges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640080" y="5806440"/>
            <a:ext cx="10972800" cy="685800"/>
          </a:xfrm>
          <a:prstGeom prst="roundRect">
            <a:avLst>
              <a:gd name="adj" fmla="val 10667"/>
            </a:avLst>
          </a:prstGeom>
          <a:solidFill>
            <a:srgbClr val="EAF3F8"/>
          </a:solidFill>
          <a:ln w="12700">
            <a:solidFill>
              <a:srgbClr val="1C7293"/>
            </a:solidFill>
            <a:prstDash val="solid"/>
          </a:ln>
          <a:effectLst>
            <a:outerShdw blurRad="76200" dist="25400" dir="5400000" algn="bl" rotWithShape="0">
              <a:srgbClr val="9AB0C4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868680" y="5806440"/>
            <a:ext cx="10561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stored keys anywhere. The WIF pool trusts the Snowflake issuer; GCP grants one read-only principal (biglake.viewer + serviceusage.serviceUsageConsumer). Storage access is vended per table and expires.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F24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Architecture decisions  ·  the sharing contract (ADR 01–03)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110996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D5E2EC"/>
            </a:solidFill>
            <a:prstDash val="solid"/>
          </a:ln>
          <a:effectLst>
            <a:outerShdw blurRad="76200" dist="25400" dir="5400000" algn="bl" rotWithShape="0">
              <a:srgbClr val="9AB0C4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868680" y="1691640"/>
            <a:ext cx="566928" cy="56692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868680" y="16916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691640" y="1316736"/>
            <a:ext cx="9784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F24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Apache Iceberg as the cross-cloud table format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691640" y="1719072"/>
            <a:ext cx="9784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table format — not any engine — owns the data contract. Any Iceberg-capable engine (Snowflake, BigQuery, Spark, Trino, Flink) reads the same files; snapshot isolation gives consumers consistent reads while producers commit.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691640" y="2340864"/>
            <a:ext cx="9784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Rejected:  </a:t>
            </a:r>
            <a:r>
              <a:rPr lang="en-US" sz="1200" i="1" dirty="0">
                <a:solidFill>
                  <a:srgbClr val="6B7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Delta + UniForm (translation layer, GCP tooling is Iceberg-first) · plain Parquet (no schema evolution, no transactions) · vendor-native shares (locks the contract to one vendor)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2971800"/>
            <a:ext cx="11109960" cy="1600200"/>
          </a:xfrm>
          <a:prstGeom prst="roundRect">
            <a:avLst>
              <a:gd name="adj" fmla="val 4571"/>
            </a:avLst>
          </a:prstGeom>
          <a:solidFill>
            <a:srgbClr val="F4F9FC"/>
          </a:solidFill>
          <a:ln w="12700">
            <a:solidFill>
              <a:srgbClr val="D5E2EC"/>
            </a:solidFill>
            <a:prstDash val="solid"/>
          </a:ln>
          <a:effectLst>
            <a:outerShdw blurRad="76200" dist="25400" dir="5400000" algn="bl" rotWithShape="0">
              <a:srgbClr val="9AB0C4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868680" y="3474720"/>
            <a:ext cx="566928" cy="56692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868680" y="34747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691640" y="3099816"/>
            <a:ext cx="9784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F24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Zero-copy catalog federation over replication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691640" y="3502152"/>
            <a:ext cx="9784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authoritative copy in GCS; consumers get live reads of the latest committed snapshot. No replication pipelines, no divergence monitoring, no second storage bill — cost moves to bounded per-query egress.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691640" y="4123944"/>
            <a:ext cx="9784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Rejected:  </a:t>
            </a:r>
            <a:r>
              <a:rPr lang="en-US" sz="1200" i="1" dirty="0">
                <a:solidFill>
                  <a:srgbClr val="6B7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Snowflake cross-cloud shares (doubles Snowflake footprint, Snowflake-only) · GCS→S3 sync (Iceberg metadata uses absolute paths — every cycle rewrites metadata)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48640" y="4754880"/>
            <a:ext cx="1110996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D5E2EC"/>
            </a:solidFill>
            <a:prstDash val="solid"/>
          </a:ln>
          <a:effectLst>
            <a:outerShdw blurRad="76200" dist="25400" dir="5400000" algn="bl" rotWithShape="0">
              <a:srgbClr val="9AB0C4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868680" y="5257800"/>
            <a:ext cx="566928" cy="56692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868680" y="52578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691640" y="4882896"/>
            <a:ext cx="9784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F24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BigLake (Lakehouse) metastore as the Iceberg catalog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1691640" y="5285232"/>
            <a:ext cx="9784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Serverless REST endpoint with GA Snowflake integration and credential vending built in. BigQuery reads the same tables via federation, so producers keep their native engine. Data files stay open — a Polaris migration path exists via register_table.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691640" y="5907024"/>
            <a:ext cx="9784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Rejected:  </a:t>
            </a:r>
            <a:r>
              <a:rPr lang="en-US" sz="1200" i="1" dirty="0">
                <a:solidFill>
                  <a:srgbClr val="6B7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Self-hosted Polaris / Nessie (a service to run, secure, and expose publicly — unjustified ops at this stage) · Snowflake Open Catalog (inverts the coupling toward the consumer)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F24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Architecture decisions  ·  trust, ownership, cost (ADR 04–06)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110996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D5E2EC"/>
            </a:solidFill>
            <a:prstDash val="solid"/>
          </a:ln>
          <a:effectLst>
            <a:outerShdw blurRad="76200" dist="25400" dir="5400000" algn="bl" rotWithShape="0">
              <a:srgbClr val="9AB0C4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868680" y="1691640"/>
            <a:ext cx="566928" cy="56692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868680" y="16916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691640" y="1316736"/>
            <a:ext cx="9784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F24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Keyless auth — workload identity federation + credential vending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691640" y="1719072"/>
            <a:ext cx="9784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Snowflake's OIDC token is exchanged at Google STS; storage access is vended per table and expires. No long-lived secrets to rotate, leak, or vault; the GCP grant is one read-only principal, auditable in IAM.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691640" y="2340864"/>
            <a:ext cx="9784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Rejected:  </a:t>
            </a:r>
            <a:r>
              <a:rPr lang="en-US" sz="1200" i="1" dirty="0">
                <a:solidFill>
                  <a:srgbClr val="6B7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Service-account JSON keys (standing credentials, rotation burden) · external volume only (bucket-wide standing read instead of per-table vended scope)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2971800"/>
            <a:ext cx="11109960" cy="1600200"/>
          </a:xfrm>
          <a:prstGeom prst="roundRect">
            <a:avLst>
              <a:gd name="adj" fmla="val 4571"/>
            </a:avLst>
          </a:prstGeom>
          <a:solidFill>
            <a:srgbClr val="F4F9FC"/>
          </a:solidFill>
          <a:ln w="12700">
            <a:solidFill>
              <a:srgbClr val="D5E2EC"/>
            </a:solidFill>
            <a:prstDash val="solid"/>
          </a:ln>
          <a:effectLst>
            <a:outerShdw blurRad="76200" dist="25400" dir="5400000" algn="bl" rotWithShape="0">
              <a:srgbClr val="9AB0C4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868680" y="3474720"/>
            <a:ext cx="566928" cy="56692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868680" y="34747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691640" y="3099816"/>
            <a:ext cx="9784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F24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Single writer on GCP — read-only consumers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691640" y="3502152"/>
            <a:ext cx="9784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writes, compaction, and snapshot maintenance stay with the producer; the shared_aws namespace is the published contract. Compaction quality directly drives consumer egress cost, so it belongs to one accountable owner.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691640" y="4123944"/>
            <a:ext cx="9784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Rejected:  </a:t>
            </a:r>
            <a:r>
              <a:rPr lang="en-US" sz="1200" i="1" dirty="0">
                <a:solidFill>
                  <a:srgbClr val="6B7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Multi-engine writes (safe at the format level via optimistic concurrency, but ownership and data-quality accountability blur fast)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48640" y="4754880"/>
            <a:ext cx="1110996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D5E2EC"/>
            </a:solidFill>
            <a:prstDash val="solid"/>
          </a:ln>
          <a:effectLst>
            <a:outerShdw blurRad="76200" dist="25400" dir="5400000" algn="bl" rotWithShape="0">
              <a:srgbClr val="9AB0C4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868680" y="5257800"/>
            <a:ext cx="566928" cy="56692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868680" y="52578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691640" y="4882896"/>
            <a:ext cx="9784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F24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Accept per-query egress, with a measured break-even review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1691640" y="5285232"/>
            <a:ext cx="9784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Egress (~$90–155/TB scanned) is metered in DATA_TRANSFER_HISTORY from day one. 30-day rule per table: if monthly scanned bytes materially exceed table size, replicate that table and keep federating the long tail.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691640" y="5907024"/>
            <a:ext cx="9784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Rejected:  </a:t>
            </a:r>
            <a:r>
              <a:rPr lang="en-US" sz="1200" i="1" dirty="0">
                <a:solidFill>
                  <a:srgbClr val="6B7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Replicate everything upfront (pays for copies nobody queries and reintroduces pipeline ops for the whole estate)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F24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Config-driven ingestion — streaming and batch into the same catalog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1965960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5875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1965960" cy="9601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Pub/Sub topic</a:t>
            </a:r>
            <a:endParaRPr lang="en-US" sz="130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6B7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operational events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520440" y="1554480"/>
            <a:ext cx="2880360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5875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520440" y="1554480"/>
            <a:ext cx="2880360" cy="9601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Dataflow flex template — streaming</a:t>
            </a:r>
            <a:endParaRPr lang="en-US" sz="12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6B7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s commits · auto-refreshing auth (no token cliff)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2514600" y="2029968"/>
            <a:ext cx="1005840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548640" y="3063240"/>
            <a:ext cx="1965960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5875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548640" y="3063240"/>
            <a:ext cx="1965960" cy="9601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 lands in scs-raw</a:t>
            </a:r>
            <a:endParaRPr lang="en-US" sz="130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6B7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drop = the trigger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520440" y="3063240"/>
            <a:ext cx="1234440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5875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520440" y="3063240"/>
            <a:ext cx="1234440" cy="960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Eventarc</a:t>
            </a:r>
            <a:endParaRPr lang="en-US" sz="12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6B7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launcher fn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257800" y="3063240"/>
            <a:ext cx="1691640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5875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5257800" y="3063240"/>
            <a:ext cx="1691640" cy="960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Dataflow — batch</a:t>
            </a:r>
            <a:endParaRPr lang="en-US" sz="12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6B7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 → Iceberg rows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2514600" y="3538728"/>
            <a:ext cx="1005840" cy="0"/>
          </a:xfrm>
          <a:prstGeom prst="line">
            <a:avLst/>
          </a:prstGeom>
          <a:noFill/>
          <a:ln w="22225">
            <a:solidFill>
              <a:srgbClr val="065A82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4754880" y="3538728"/>
            <a:ext cx="502920" cy="0"/>
          </a:xfrm>
          <a:prstGeom prst="line">
            <a:avLst/>
          </a:prstGeom>
          <a:noFill/>
          <a:ln w="22225">
            <a:solidFill>
              <a:srgbClr val="065A82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3520440" y="4572000"/>
            <a:ext cx="3429000" cy="960120"/>
          </a:xfrm>
          <a:prstGeom prst="roundRect">
            <a:avLst>
              <a:gd name="adj" fmla="val 5714"/>
            </a:avLst>
          </a:prstGeom>
          <a:solidFill>
            <a:srgbClr val="F4F9FC"/>
          </a:solidFill>
          <a:ln w="15875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3520440" y="4572000"/>
            <a:ext cx="3429000" cy="9601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Archiver fn — on job DONE event</a:t>
            </a:r>
            <a:endParaRPr lang="en-US" sz="12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6B7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Dataflow statusChanged → move file to scs-raw-archive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080760" y="4023360"/>
            <a:ext cx="0" cy="548640"/>
          </a:xfrm>
          <a:prstGeom prst="line">
            <a:avLst/>
          </a:prstGeom>
          <a:noFill/>
          <a:ln w="22225">
            <a:solidFill>
              <a:srgbClr val="02C39A"/>
            </a:solidFill>
            <a:prstDash val="dash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199632" y="413308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JOB_STATE_DONE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7635240" y="2011680"/>
            <a:ext cx="2240280" cy="2011680"/>
          </a:xfrm>
          <a:prstGeom prst="roundRect">
            <a:avLst>
              <a:gd name="adj" fmla="val 2727"/>
            </a:avLst>
          </a:prstGeom>
          <a:solidFill>
            <a:srgbClr val="DDEBF4"/>
          </a:solidFill>
          <a:ln w="15875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7635240" y="2011680"/>
            <a:ext cx="2240280" cy="20116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Iceberg tables</a:t>
            </a:r>
            <a:endParaRPr lang="en-US" sz="14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6B7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GCS + Lakehouse</a:t>
            </a:r>
            <a:endParaRPr lang="en-US" sz="14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6B7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catalog</a:t>
            </a:r>
            <a:endParaRPr lang="en-US" sz="1400" dirty="0"/>
          </a:p>
          <a:p>
            <a:pPr marL="0" indent="0" algn="ctr">
              <a:buNone/>
            </a:pPr>
            <a:r>
              <a:rPr lang="en-US" sz="1100" i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shared_aws.*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6400800" y="2029968"/>
            <a:ext cx="1234440" cy="438912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 flipV="1">
            <a:off x="6949440" y="3383280"/>
            <a:ext cx="685800" cy="155448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10378440" y="2514600"/>
            <a:ext cx="132588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5875">
            <a:solidFill>
              <a:srgbClr val="29B5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10378440" y="2514600"/>
            <a:ext cx="1325880" cy="10058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Snowflake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(zero-copy)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9875520" y="3017520"/>
            <a:ext cx="502920" cy="0"/>
          </a:xfrm>
          <a:prstGeom prst="line">
            <a:avLst/>
          </a:prstGeom>
          <a:noFill/>
          <a:ln w="25400">
            <a:solidFill>
              <a:srgbClr val="29B5E8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548640" y="5806440"/>
            <a:ext cx="11109960" cy="685800"/>
          </a:xfrm>
          <a:prstGeom prst="roundRect">
            <a:avLst>
              <a:gd name="adj" fmla="val 10667"/>
            </a:avLst>
          </a:prstGeom>
          <a:solidFill>
            <a:srgbClr val="EAF3F8"/>
          </a:solidFill>
          <a:ln w="12700">
            <a:solidFill>
              <a:srgbClr val="1C7293"/>
            </a:solidFill>
            <a:prstDash val="solid"/>
          </a:ln>
          <a:effectLst>
            <a:outerShdw blurRad="76200" dist="25400" dir="5400000" algn="bl" rotWithShape="0">
              <a:srgbClr val="9AB0C4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777240" y="5806440"/>
            <a:ext cx="10698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new feed is a template run with parameters — topic, table, commit interval — not new code. Both templates ship as one Java-enabled launcher image, built once in Cloud Build.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F24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Integrity controls — three-way reconciliation, config-driven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35204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2700">
            <a:solidFill>
              <a:srgbClr val="D5E2EC"/>
            </a:solidFill>
            <a:prstDash val="solid"/>
          </a:ln>
          <a:effectLst>
            <a:outerShdw blurRad="76200" dist="25400" dir="5400000" algn="bl" rotWithShape="0">
              <a:srgbClr val="9AB0C4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77240" y="132588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77240" y="164592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24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Archived CSVs re-counted in GCS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21031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rows + sum(amount) recomputed from the archive ledger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434840" y="1188720"/>
            <a:ext cx="35204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2700">
            <a:solidFill>
              <a:srgbClr val="D5E2EC"/>
            </a:solidFill>
            <a:prstDash val="solid"/>
          </a:ln>
          <a:effectLst>
            <a:outerShdw blurRad="76200" dist="25400" dir="5400000" algn="bl" rotWithShape="0">
              <a:srgbClr val="9AB0C4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663440" y="132588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LAKE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663440" y="164592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24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Iceberg snapshot metadata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663440" y="21031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total-records read via the REST catalog — no scan, no compute cost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321040" y="1188720"/>
            <a:ext cx="35204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2700">
            <a:solidFill>
              <a:srgbClr val="D5E2EC"/>
            </a:solidFill>
            <a:prstDash val="solid"/>
          </a:ln>
          <a:effectLst>
            <a:outerShdw blurRad="76200" dist="25400" dir="5400000" algn="bl" rotWithShape="0">
              <a:srgbClr val="9AB0C4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8549640" y="132588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29B5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549640" y="164592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24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Snowflake aggregates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549640" y="21031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 / SUM / nulls / dupes via the snow CLI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069080" y="2011680"/>
            <a:ext cx="365760" cy="0"/>
          </a:xfrm>
          <a:prstGeom prst="line">
            <a:avLst/>
          </a:prstGeom>
          <a:noFill/>
          <a:ln w="19050">
            <a:solidFill>
              <a:srgbClr val="6B7F94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 flipV="1">
            <a:off x="4069080" y="2148840"/>
            <a:ext cx="365760" cy="0"/>
          </a:xfrm>
          <a:prstGeom prst="line">
            <a:avLst/>
          </a:prstGeom>
          <a:noFill/>
          <a:ln w="19050">
            <a:solidFill>
              <a:srgbClr val="6B7F94"/>
            </a:solidFill>
            <a:prstDash val="solid"/>
            <a:head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7955280" y="2011680"/>
            <a:ext cx="365760" cy="0"/>
          </a:xfrm>
          <a:prstGeom prst="line">
            <a:avLst/>
          </a:prstGeom>
          <a:noFill/>
          <a:ln w="19050">
            <a:solidFill>
              <a:srgbClr val="6B7F94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 flipV="1">
            <a:off x="7955280" y="2148840"/>
            <a:ext cx="365760" cy="0"/>
          </a:xfrm>
          <a:prstGeom prst="line">
            <a:avLst/>
          </a:prstGeom>
          <a:noFill/>
          <a:ln w="19050">
            <a:solidFill>
              <a:srgbClr val="6B7F94"/>
            </a:solidFill>
            <a:prstDash val="solid"/>
            <a:head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548640" y="3246120"/>
            <a:ext cx="6858000" cy="3108960"/>
          </a:xfrm>
          <a:prstGeom prst="roundRect">
            <a:avLst>
              <a:gd name="adj" fmla="val 2353"/>
            </a:avLst>
          </a:prstGeom>
          <a:solidFill>
            <a:srgbClr val="0F2440"/>
          </a:solidFill>
          <a:ln w="12700">
            <a:solidFill>
              <a:srgbClr val="0F2440"/>
            </a:solidFill>
            <a:prstDash val="solid"/>
          </a:ln>
          <a:effectLst>
            <a:outerShdw blurRad="76200" dist="25400" dir="5400000" algn="bl" rotWithShape="0">
              <a:srgbClr val="9AB0C4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868680" y="3474720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RESULT: PASS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868680" y="4069080"/>
            <a:ext cx="621792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= 50 = 50</a:t>
            </a:r>
            <a:endParaRPr lang="en-US" sz="16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rows: source CSVs = Iceberg = Snowflake</a:t>
            </a:r>
            <a:endParaRPr lang="en-US" sz="1600" dirty="0"/>
          </a:p>
          <a:p>
            <a:pPr marL="0" indent="0" algn="l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600" dirty="0"/>
          </a:p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25,688.93 = 25,688.93</a:t>
            </a:r>
            <a:endParaRPr lang="en-US" sz="16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sum(amount): source vs Snowflake — exact to the penny</a:t>
            </a:r>
            <a:endParaRPr lang="en-US" sz="1600" dirty="0"/>
          </a:p>
          <a:p>
            <a:pPr marL="0" indent="0" algn="l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600" dirty="0"/>
          </a:p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nulls · 0 duplicate keys</a:t>
            </a:r>
            <a:endParaRPr lang="en-US" sz="16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event_id and published_at across both tables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7680960" y="3246120"/>
            <a:ext cx="3977640" cy="3108960"/>
          </a:xfrm>
          <a:prstGeom prst="roundRect">
            <a:avLst>
              <a:gd name="adj" fmla="val 2353"/>
            </a:avLst>
          </a:prstGeom>
          <a:solidFill>
            <a:srgbClr val="EAF3F8"/>
          </a:solidFill>
          <a:ln w="12700">
            <a:solidFill>
              <a:srgbClr val="F96167"/>
            </a:solidFill>
            <a:prstDash val="solid"/>
          </a:ln>
          <a:effectLst>
            <a:outerShdw blurRad="76200" dist="25400" dir="5400000" algn="bl" rotWithShape="0">
              <a:srgbClr val="9AB0C4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7909560" y="342900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24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caught real drift on run one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7909560" y="3931920"/>
            <a:ext cx="3566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 counts matched, but sum(amount) disagreed by 670.85 — one file had been archived without loading, another loaded without archiving. The aggregate check exposed a silent divergence between the archive ledger and the lake in a 25-row POC.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7909560" y="585216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B7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validation.yaml — new feed = new stanza, no code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F24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was measured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4297680" cy="5212080"/>
          </a:xfrm>
          <a:prstGeom prst="roundRect">
            <a:avLst>
              <a:gd name="adj" fmla="val 1702"/>
            </a:avLst>
          </a:prstGeom>
          <a:solidFill>
            <a:srgbClr val="F4F9FC"/>
          </a:solidFill>
          <a:ln w="12700">
            <a:solidFill>
              <a:srgbClr val="D5E2EC"/>
            </a:solidFill>
            <a:prstDash val="solid"/>
          </a:ln>
          <a:effectLst>
            <a:outerShdw blurRad="76200" dist="25400" dir="5400000" algn="bl" rotWithShape="0">
              <a:srgbClr val="9AB0C4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822960" y="137160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Measured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187452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b="1" dirty="0">
                <a:solidFill>
                  <a:srgbClr val="0F24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~90 s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2423160" y="1929384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 → Iceberg commit (streaming)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822960" y="2990088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b="1" dirty="0">
                <a:solidFill>
                  <a:srgbClr val="0F24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1–10 min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2423160" y="3044952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Iceberg → visible in Snowflake (nominal 30 s — measure before promising SLAs)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822960" y="4105656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b="1" dirty="0">
                <a:solidFill>
                  <a:srgbClr val="0F24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~12 min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2423160" y="4160520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 job wall-clock, startup-dominated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822960" y="5221224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b="1" dirty="0">
                <a:solidFill>
                  <a:srgbClr val="0F24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cents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2423160" y="5276088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egress at POC scale (DATA_TRANSFER_HISTORY)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413248" y="1856232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413248" y="2606040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413248" y="3355848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413248" y="4105656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413248" y="4855464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413248" y="5605272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24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this goes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5303520" cy="4480560"/>
          </a:xfrm>
          <a:prstGeom prst="roundRect">
            <a:avLst>
              <a:gd name="adj" fmla="val 1633"/>
            </a:avLst>
          </a:prstGeom>
          <a:solidFill>
            <a:srgbClr val="1A3A5C"/>
          </a:solidFill>
          <a:ln w="12700">
            <a:solidFill>
              <a:srgbClr val="1C7293"/>
            </a:solidFill>
            <a:prstDash val="solid"/>
          </a:ln>
          <a:effectLst>
            <a:outerShdw blurRad="76200" dist="25400" dir="5400000" algn="bl" rotWithShape="0">
              <a:srgbClr val="9AB0C4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097280" y="15544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Production hardening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097280" y="2103120"/>
            <a:ext cx="475488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as a Cloud Run job — Scheduler cron + post-batch event, alerts to Pub/Sub</a:t>
            </a:r>
            <a:endParaRPr lang="en-US" sz="13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Egress guardrails: resource monitors + a DATA_TRANSFER_HISTORY dashboard, per ADR-0006</a:t>
            </a:r>
            <a:endParaRPr lang="en-US" sz="13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→ standardized → curated zones as catalog namespaces; share only curated</a:t>
            </a:r>
            <a:endParaRPr lang="en-US" sz="13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Drain-based relaunch automation for streaming template updates</a:t>
            </a:r>
            <a:endParaRPr lang="en-US" sz="13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Terraform adoption: import existing resources, two-phase WIF apply (terraform/README)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492240" y="1371600"/>
            <a:ext cx="4892040" cy="4480560"/>
          </a:xfrm>
          <a:prstGeom prst="roundRect">
            <a:avLst>
              <a:gd name="adj" fmla="val 1633"/>
            </a:avLst>
          </a:prstGeom>
          <a:solidFill>
            <a:srgbClr val="1A3A5C"/>
          </a:solidFill>
          <a:ln w="12700">
            <a:solidFill>
              <a:srgbClr val="1C7293"/>
            </a:solidFill>
            <a:prstDash val="solid"/>
          </a:ln>
          <a:effectLst>
            <a:outerShdw blurRad="76200" dist="25400" dir="5400000" algn="bl" rotWithShape="0">
              <a:srgbClr val="9AB0C4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766560" y="1554480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When to use this pattern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766560" y="214884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 speaks Iceberg REST?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766560" y="2514600"/>
            <a:ext cx="4389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Snowflake, Spark, Trino → zero-copy federation (this design)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6766560" y="3355848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S3-only consumer?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766560" y="3721608"/>
            <a:ext cx="4389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Athena / Redshift → scheduled replica for those tables only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6766560" y="4562856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scan ≫ table size?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766560" y="4928616"/>
            <a:ext cx="4389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Replicate that hot table; keep federating the long tail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60</TotalTime>
  <Words>1687</Words>
  <Application>Microsoft Office PowerPoint</Application>
  <PresentationFormat>Widescreen</PresentationFormat>
  <Paragraphs>181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Aptos</vt:lpstr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Jeremy DeGardeyn</cp:lastModifiedBy>
  <cp:revision>1</cp:revision>
  <dcterms:created xsi:type="dcterms:W3CDTF">2026-07-15T18:21:28Z</dcterms:created>
  <dcterms:modified xsi:type="dcterms:W3CDTF">2026-07-15T20:40:24Z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21662892-67aa-43a5-814f-5ec6528b0125_Enabled">
    <vt:lpwstr>true</vt:lpwstr>
  </property>
  <property fmtid="{D5CDD505-2E9C-101B-9397-08002B2CF9AE}" pid="3" name="MSIP_Label_21662892-67aa-43a5-814f-5ec6528b0125_SetDate">
    <vt:lpwstr>2026-07-15T19:39:30Z</vt:lpwstr>
  </property>
  <property fmtid="{D5CDD505-2E9C-101B-9397-08002B2CF9AE}" pid="4" name="MSIP_Label_21662892-67aa-43a5-814f-5ec6528b0125_Method">
    <vt:lpwstr>Standard</vt:lpwstr>
  </property>
  <property fmtid="{D5CDD505-2E9C-101B-9397-08002B2CF9AE}" pid="5" name="MSIP_Label_21662892-67aa-43a5-814f-5ec6528b0125_Name">
    <vt:lpwstr>Internal Use</vt:lpwstr>
  </property>
  <property fmtid="{D5CDD505-2E9C-101B-9397-08002B2CF9AE}" pid="6" name="MSIP_Label_21662892-67aa-43a5-814f-5ec6528b0125_SiteId">
    <vt:lpwstr>157a26ef-912f-4244-abef-b45fc4bd77f9</vt:lpwstr>
  </property>
  <property fmtid="{D5CDD505-2E9C-101B-9397-08002B2CF9AE}" pid="7" name="MSIP_Label_21662892-67aa-43a5-814f-5ec6528b0125_ActionId">
    <vt:lpwstr>04e9330b-d8b6-477c-a42f-d067c5a16895</vt:lpwstr>
  </property>
  <property fmtid="{D5CDD505-2E9C-101B-9397-08002B2CF9AE}" pid="8" name="MSIP_Label_21662892-67aa-43a5-814f-5ec6528b0125_ContentBits">
    <vt:lpwstr>2</vt:lpwstr>
  </property>
  <property fmtid="{D5CDD505-2E9C-101B-9397-08002B2CF9AE}" pid="9" name="MSIP_Label_21662892-67aa-43a5-814f-5ec6528b0125_Tag">
    <vt:lpwstr>10, 3, 0, 1</vt:lpwstr>
  </property>
  <property fmtid="{D5CDD505-2E9C-101B-9397-08002B2CF9AE}" pid="10" name="ClassificationContentMarkingFooterLocations">
    <vt:lpwstr>Office Theme:3</vt:lpwstr>
  </property>
  <property fmtid="{D5CDD505-2E9C-101B-9397-08002B2CF9AE}" pid="11" name="ClassificationContentMarkingFooterText">
    <vt:lpwstr>Internal Use</vt:lpwstr>
  </property>
</Properties>
</file>