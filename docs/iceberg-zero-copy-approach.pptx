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POC ran end-to-end on a GCP project + Snowflake AWS trial: catalog federation, WIF keyless auth, streaming and batch Dataflow ingestion, and a config-driven validation harness. Everything on this deck is implemented and measured, not proposed.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cost doesn't disappear — it moves from standing storage + pipeline ops to per-query egress. ADR-0006 bounds that with a measured 30-day break-even review per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cross-cloud paths only: metadata+auth over the REST API, and pruned Parquet reads billed as DATA_LAKE egress. The producers keep their native engines on GCP.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ADR-0004. Two live gotchas: the serviceusage.serviceUsageConsumer role is required by the x-goog-user-project header, and CREATE OR REPLACE on the catalog integration mints a NEW WIF subject that must be re-granted.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lightweight MADR records in docs/adr/. These three define what is shared and through what contract.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ADR-0006 makes partitioning quality a cost lever, not just performance — Snowflake fetches pruned byte ranges, so producer-side layout controls the egress bill.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Streaming avoids the 1-hour static-token limitation in Google's guide by passing GoogleAuthManager through catalog properties — auth refreshes indefinitely. Archive is event-driven because batch jobs (~12 min) outlive the 540s event-function limit and the flex launcher's wait_until_finish() is a no-op.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Zero-copy makes the middle comparison nearly tautological — Snowflake reads the same files — so the expensive completeness check of a replication architecture reduces to a freshness check here. Production shape: same script as a Cloud Run job on a Scheduler cron + post-batch event.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latency numbers are observed on a trial account — the CLD refresh gap between nominal 30s and observed 1-10 min is exactly why ADR-0006 says instrument from day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the POC didn't just prove the happy path — the as-run log documents every failure and fix, which is the difference between a demo and an architecture you can defend.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material: rebuttals for review, both operational runbooks condensed, and the ADR index. Full text lives in the repo docs.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text: docs/production-readiness.md. Concede the three real gaps; reject the claim that the pattern is POC-only.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trust models are keyless and revocable: WIF token exchange to GCP; scoped role assumption (one IAM user, one external id, one read-only bucket) to the user's AWS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default path. Six numbered steps map to the scripts/ and sql/ ordering in the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Executed against a personal AWS free-plan account — pennies of spend. The identical-results query is the closing proof for the trade-offs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six accepted 2026-07-13; full MADR records with alternatives-considered live in docs/adr/. Slides 5-6 of the main deck carry the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ICEBERG ZERO-COPY POC  ·  ARCHITECTURE &amp; RESULTS  ·  JULY 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copy of the data.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GCS-resident Apache Iceberg tables, read in place by Snowflake on AWS — keyless trust, config-driven streaming and batch ingestion, and integrity controls that reconcile to the penny.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1A3A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42976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51560" y="49560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copy, in GCS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416052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1A3A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2976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709160" y="49560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credentials anywhere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416052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1A3A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42976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366760" y="49560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integrity reconciliation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github.com/jeremydegardeyn/iceberg-zero-copy-poc   ·   proven end-to-end 2026-07-14/15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Expose the data — don’t copy 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40680" cy="3383280"/>
          </a:xfrm>
          <a:prstGeom prst="roundRect">
            <a:avLst>
              <a:gd name="adj" fmla="val 2162"/>
            </a:avLst>
          </a:prstGeom>
          <a:solidFill>
            <a:srgbClr val="F4F9FC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B0C4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371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47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Traditional: replicate into the EDW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892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physical copy — storage billed twice, forever</a:t>
            </a:r>
            <a:endParaRPr lang="en-US" sz="1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per feed to build, schedule, and monitor</a:t>
            </a:r>
            <a:endParaRPr lang="en-US" sz="1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 = pipeline lag; divergence needs its own monitoring</a:t>
            </a:r>
            <a:endParaRPr lang="en-US" sz="1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sharing contract is locked to one vendor’s mechanism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14300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EAF3F8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9AB0C4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0" y="1371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design: zero-copy federation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0" y="187452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authoritative copy in GCS; Iceberg owns the contract</a:t>
            </a:r>
            <a:endParaRPr lang="en-US" sz="1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reads the latest committed snapshot in place</a:t>
            </a:r>
            <a:endParaRPr lang="en-US" sz="1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 is inherent — no pipeline exists to lag</a:t>
            </a:r>
            <a:endParaRPr lang="en-US" sz="1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Iceberg-capable engine can join later; choices stay reversible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8920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B0C4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50292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77240" y="5669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storage bill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48920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B0C4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50292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~90 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72000" y="5669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→ Iceberg commit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48920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B0C4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66760" y="50292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$90–155 / TB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366760" y="5669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— only when queried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context — data never leaves GCS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760720" cy="4343400"/>
          </a:xfrm>
          <a:prstGeom prst="roundRect">
            <a:avLst>
              <a:gd name="adj" fmla="val 1263"/>
            </a:avLst>
          </a:prstGeom>
          <a:solidFill>
            <a:srgbClr val="F4F9FC"/>
          </a:solidFill>
          <a:ln w="15875">
            <a:solidFill>
              <a:srgbClr val="B9CF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298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 ·  data owner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21031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2103120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· Dataflow · BigQuery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794760" y="1828800"/>
            <a:ext cx="22402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1828800"/>
            <a:ext cx="2240280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 catalog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Iceberg REST endpoint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(BigLake metastore)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48840" y="406908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DDEBF4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4069080"/>
            <a:ext cx="310896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bucket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Iceberg tables — single source of truth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017520" y="2331720"/>
            <a:ext cx="77724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999232" y="20299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65960" y="2880360"/>
            <a:ext cx="1051560" cy="118872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417320" y="3383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flipV="1">
            <a:off x="4389120" y="3017520"/>
            <a:ext cx="502920" cy="1051560"/>
          </a:xfrm>
          <a:prstGeom prst="line">
            <a:avLst/>
          </a:prstGeom>
          <a:noFill/>
          <a:ln w="22225">
            <a:solidFill>
              <a:srgbClr val="1C7293"/>
            </a:solidFill>
            <a:prstDash val="dash"/>
            <a:headEnd type="triangle"/>
          </a:ln>
        </p:spPr>
      </p:sp>
      <p:sp>
        <p:nvSpPr>
          <p:cNvPr id="16" name="Text 14"/>
          <p:cNvSpPr/>
          <p:nvPr/>
        </p:nvSpPr>
        <p:spPr>
          <a:xfrm>
            <a:off x="4526280" y="3401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pointers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818120" y="1188720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F4F9FC"/>
          </a:solidFill>
          <a:ln w="15875">
            <a:solidFill>
              <a:srgbClr val="B9CF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12984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 ·  consumer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83880" y="1828800"/>
            <a:ext cx="31089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29B5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1828800"/>
            <a:ext cx="3108960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catalog-linked database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(read-only)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83880" y="4069080"/>
            <a:ext cx="31089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875">
            <a:solidFill>
              <a:srgbClr val="29B5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83880" y="4069080"/>
            <a:ext cx="310896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warehouses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compute, billed per second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738360" y="3017520"/>
            <a:ext cx="0" cy="1051560"/>
          </a:xfrm>
          <a:prstGeom prst="line">
            <a:avLst/>
          </a:prstGeom>
          <a:noFill/>
          <a:ln w="22225">
            <a:solidFill>
              <a:srgbClr val="29B5E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6035040" y="2286000"/>
            <a:ext cx="2148840" cy="0"/>
          </a:xfrm>
          <a:prstGeom prst="line">
            <a:avLst/>
          </a:prstGeom>
          <a:noFill/>
          <a:ln w="28575">
            <a:solidFill>
              <a:srgbClr val="065A82"/>
            </a:solidFill>
            <a:prstDash val="solid"/>
            <a:headEnd type="triangle"/>
          </a:ln>
        </p:spPr>
      </p:sp>
      <p:sp>
        <p:nvSpPr>
          <p:cNvPr id="25" name="Text 23"/>
          <p:cNvSpPr/>
          <p:nvPr/>
        </p:nvSpPr>
        <p:spPr>
          <a:xfrm>
            <a:off x="6126480" y="17830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Iceberg REST (HTTPS)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+ auth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 flipV="1">
            <a:off x="5257800" y="4572000"/>
            <a:ext cx="2926080" cy="0"/>
          </a:xfrm>
          <a:prstGeom prst="line">
            <a:avLst/>
          </a:prstGeom>
          <a:noFill/>
          <a:ln w="28575">
            <a:solidFill>
              <a:srgbClr val="F96167"/>
            </a:solidFill>
            <a:prstDash val="solid"/>
            <a:headEnd type="triangle"/>
          </a:ln>
        </p:spPr>
      </p:sp>
      <p:sp>
        <p:nvSpPr>
          <p:cNvPr id="27" name="Text 25"/>
          <p:cNvSpPr/>
          <p:nvPr/>
        </p:nvSpPr>
        <p:spPr>
          <a:xfrm>
            <a:off x="5349240" y="468172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pruned Parquet byte-range reads (egress $)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discovers tables through the REST catalog and scans Parquet in place. Iceberg pruning means it fetches byte ranges, not tables.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Keyless trust — WIF token exchange + credential vending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920240" cy="548640"/>
          </a:xfrm>
          <a:prstGeom prst="roundRect">
            <a:avLst>
              <a:gd name="adj" fmla="val 10000"/>
            </a:avLst>
          </a:prstGeom>
          <a:solidFill>
            <a:srgbClr val="0F2440"/>
          </a:solidFill>
          <a:ln w="15875">
            <a:solidFill>
              <a:srgbClr val="0F24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19202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(AWS)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00200" y="1783080"/>
            <a:ext cx="0" cy="3794760"/>
          </a:xfrm>
          <a:prstGeom prst="line">
            <a:avLst/>
          </a:prstGeom>
          <a:noFill/>
          <a:ln w="12700">
            <a:solidFill>
              <a:srgbClr val="D5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1234440"/>
            <a:ext cx="1920240" cy="548640"/>
          </a:xfrm>
          <a:prstGeom prst="roundRect">
            <a:avLst>
              <a:gd name="adj" fmla="val 10000"/>
            </a:avLst>
          </a:prstGeom>
          <a:solidFill>
            <a:srgbClr val="0F2440"/>
          </a:solidFill>
          <a:ln w="15875">
            <a:solidFill>
              <a:srgbClr val="0F24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1234440"/>
            <a:ext cx="19202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17720" y="1783080"/>
            <a:ext cx="0" cy="3794760"/>
          </a:xfrm>
          <a:prstGeom prst="line">
            <a:avLst/>
          </a:prstGeom>
          <a:noFill/>
          <a:ln w="12700">
            <a:solidFill>
              <a:srgbClr val="D5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0" y="1234440"/>
            <a:ext cx="1920240" cy="548640"/>
          </a:xfrm>
          <a:prstGeom prst="roundRect">
            <a:avLst>
              <a:gd name="adj" fmla="val 10000"/>
            </a:avLst>
          </a:prstGeom>
          <a:solidFill>
            <a:srgbClr val="0F2440"/>
          </a:solidFill>
          <a:ln w="15875">
            <a:solidFill>
              <a:srgbClr val="0F24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1234440"/>
            <a:ext cx="19202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Iceberg REST catalog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783080"/>
            <a:ext cx="0" cy="3794760"/>
          </a:xfrm>
          <a:prstGeom prst="line">
            <a:avLst/>
          </a:prstGeom>
          <a:noFill/>
          <a:ln w="12700">
            <a:solidFill>
              <a:srgbClr val="D5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92640" y="1234440"/>
            <a:ext cx="1920240" cy="548640"/>
          </a:xfrm>
          <a:prstGeom prst="roundRect">
            <a:avLst>
              <a:gd name="adj" fmla="val 10000"/>
            </a:avLst>
          </a:prstGeom>
          <a:solidFill>
            <a:srgbClr val="0F2440"/>
          </a:solidFill>
          <a:ln w="15875">
            <a:solidFill>
              <a:srgbClr val="0F24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0" y="1234440"/>
            <a:ext cx="19202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bucket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652760" y="1783080"/>
            <a:ext cx="0" cy="3794760"/>
          </a:xfrm>
          <a:prstGeom prst="line">
            <a:avLst/>
          </a:prstGeom>
          <a:noFill/>
          <a:ln w="12700">
            <a:solidFill>
              <a:srgbClr val="D5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00200" y="2240280"/>
            <a:ext cx="30175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197864" y="2084832"/>
            <a:ext cx="310896" cy="310896"/>
          </a:xfrm>
          <a:prstGeom prst="ellipse">
            <a:avLst/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206654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37360" y="18562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Snowflake OIDC token  (grant: TOKEN_EXCHANGE)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 flipV="1">
            <a:off x="1600200" y="2953512"/>
            <a:ext cx="301752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dash"/>
            <a:headEnd type="triangle"/>
          </a:ln>
        </p:spPr>
      </p:sp>
      <p:sp>
        <p:nvSpPr>
          <p:cNvPr id="20" name="Shape 18"/>
          <p:cNvSpPr/>
          <p:nvPr/>
        </p:nvSpPr>
        <p:spPr>
          <a:xfrm>
            <a:off x="1197864" y="2798064"/>
            <a:ext cx="310896" cy="310896"/>
          </a:xfrm>
          <a:prstGeom prst="ellipse">
            <a:avLst/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0432" y="277977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737360" y="25694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GCP access token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600200" y="3666744"/>
            <a:ext cx="60350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197864" y="3511296"/>
            <a:ext cx="310896" cy="310896"/>
          </a:xfrm>
          <a:prstGeom prst="ellipse">
            <a:avLst/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70432" y="349300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737360" y="3282696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LoadTable  +  X-Iceberg-Access-Delegation: vended-credentials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 flipV="1">
            <a:off x="1600200" y="4379976"/>
            <a:ext cx="603504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dash"/>
            <a:headEnd type="triangle"/>
          </a:ln>
        </p:spPr>
      </p:sp>
      <p:sp>
        <p:nvSpPr>
          <p:cNvPr id="28" name="Shape 26"/>
          <p:cNvSpPr/>
          <p:nvPr/>
        </p:nvSpPr>
        <p:spPr>
          <a:xfrm>
            <a:off x="1197864" y="4224528"/>
            <a:ext cx="310896" cy="310896"/>
          </a:xfrm>
          <a:prstGeom prst="ellipse">
            <a:avLst/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0432" y="42062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737360" y="399592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metadata.json location  +  vended, table-scoped GCS credentials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600200" y="5093208"/>
            <a:ext cx="90525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197864" y="4937760"/>
            <a:ext cx="310896" cy="310896"/>
          </a:xfrm>
          <a:prstGeom prst="ellipse">
            <a:avLst/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70432" y="491947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737360" y="470916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manifests + pruned Parquet byte ranges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" y="5806440"/>
            <a:ext cx="10972800" cy="685800"/>
          </a:xfrm>
          <a:prstGeom prst="roundRect">
            <a:avLst>
              <a:gd name="adj" fmla="val 10667"/>
            </a:avLst>
          </a:prstGeom>
          <a:solidFill>
            <a:srgbClr val="EAF3F8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9AB0C4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68680" y="5806440"/>
            <a:ext cx="10561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stored keys anywhere. The WIF pool trusts the Snowflake issuer; GCP grants one read-only principal (biglake.viewer + serviceusage.serviceUsageConsumer). Storage access is vended per table and expires.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decisions  ·  the sharing contract (ADR 01–03)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1099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B0C4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91640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91640" y="1316736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Iceberg as the cross-cloud table format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1719072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format — not any engine — owns the data contract. Any Iceberg-capable engine (Snowflake, BigQuery, Spark, Trino, Flink) reads the same files; snapshot isolation gives consumers consistent reads while producers commit.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91640" y="234086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Rejected:  </a:t>
            </a:r>
            <a:pPr indent="0" marL="0">
              <a:buNone/>
            </a:pPr>
            <a:r>
              <a:rPr lang="en-US" sz="1200" i="1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+ UniForm (translation layer, GCP tooling is Iceberg-first) · plain Parquet (no schema evolution, no transactions) · vendor-native shares (locks the contract to one vendor)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11109960" cy="1600200"/>
          </a:xfrm>
          <a:prstGeom prst="roundRect">
            <a:avLst>
              <a:gd name="adj" fmla="val 4571"/>
            </a:avLst>
          </a:prstGeom>
          <a:solidFill>
            <a:srgbClr val="F4F9FC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B0C4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474720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474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91640" y="3099816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Zero-copy catalog federation over replication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91640" y="3502152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authoritative copy in GCS; consumers get live reads of the latest committed snapshot. No replication pipelines, no divergence monitoring, no second storage bill — cost moves to bounded per-query egress.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91640" y="412394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Rejected:  </a:t>
            </a:r>
            <a:pPr indent="0" marL="0">
              <a:buNone/>
            </a:pPr>
            <a:r>
              <a:rPr lang="en-US" sz="1200" i="1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cross-cloud shares (doubles Snowflake footprint, Snowflake-only) · GCS→S3 sync (Iceberg metadata uses absolute paths — every cycle rewrites metadata)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754880"/>
            <a:ext cx="111099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B0C4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5257800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257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91640" y="4882896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BigLake (Lakehouse) metastore as the Iceberg catalog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91640" y="5285232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REST endpoint with GA Snowflake integration and credential vending built in. BigQuery reads the same tables via federation, so producers keep their native engine. Data files stay open — a Polaris migration path exists via register_table.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91640" y="590702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Rejected:  </a:t>
            </a:r>
            <a:pPr indent="0" marL="0">
              <a:buNone/>
            </a:pPr>
            <a:r>
              <a:rPr lang="en-US" sz="1200" i="1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Polaris / Nessie (a service to run, secure, and expose publicly — unjustified ops at this stage) · Snowflake Open Catalog (inverts the coupling toward the consumer)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decisions  ·  trust, ownership, cost (ADR 04–06)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1099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B0C4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91640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91640" y="1316736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Keyless auth — workload identity federation + credential vending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1719072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Snowflake's OIDC token is exchanged at Google STS; storage access is vended per table and expires. No long-lived secrets to rotate, leak, or vault; the GCP grant is one read-only principal, auditable in IAM.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91640" y="234086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Rejected:  </a:t>
            </a:r>
            <a:pPr indent="0" marL="0">
              <a:buNone/>
            </a:pPr>
            <a:r>
              <a:rPr lang="en-US" sz="1200" i="1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Service-account JSON keys (standing credentials, rotation burden) · external volume only (bucket-wide standing read instead of per-table vended scope)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11109960" cy="1600200"/>
          </a:xfrm>
          <a:prstGeom prst="roundRect">
            <a:avLst>
              <a:gd name="adj" fmla="val 4571"/>
            </a:avLst>
          </a:prstGeom>
          <a:solidFill>
            <a:srgbClr val="F4F9FC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B0C4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474720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474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91640" y="3099816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writer on GCP — read-only consumers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91640" y="3502152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writes, compaction, and snapshot maintenance stay with the producer; the shared_aws namespace is the published contract. Compaction quality directly drives consumer egress cost, so it belongs to one accountable owner.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91640" y="412394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Rejected:  </a:t>
            </a:r>
            <a:pPr indent="0" marL="0">
              <a:buNone/>
            </a:pPr>
            <a:r>
              <a:rPr lang="en-US" sz="1200" i="1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Multi-engine writes (safe at the format level via optimistic concurrency, but ownership and data-quality accountability blur fast)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754880"/>
            <a:ext cx="111099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B0C4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5257800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257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91640" y="4882896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 per-query egress, with a measured break-even review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91640" y="5285232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(~$90–155/TB scanned) is metered in DATA_TRANSFER_HISTORY from day one. 30-day rule per table: if monthly scanned bytes materially exceed table size, replicate that table and keep federating the long tail.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91640" y="590702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Rejected:  </a:t>
            </a:r>
            <a:pPr indent="0" marL="0">
              <a:buNone/>
            </a:pPr>
            <a:r>
              <a:rPr lang="en-US" sz="1200" i="1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everything upfront (pays for copies nobody queries and reintroduces pipeline ops for the whole estate)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Config-driven ingestion — streaming and batch into the same catalog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54480"/>
            <a:ext cx="196596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 topic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events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20440" y="1554480"/>
            <a:ext cx="2880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20440" y="1554480"/>
            <a:ext cx="288036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 flex template — streaming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 commits · auto-refreshing auth (no token cliff)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14600" y="2029968"/>
            <a:ext cx="100584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48640" y="30632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63240"/>
            <a:ext cx="196596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lands in scs-raw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drop = the trigger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20440" y="3063240"/>
            <a:ext cx="12344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3063240"/>
            <a:ext cx="123444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Eventarc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launcher fn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257800" y="3063240"/>
            <a:ext cx="16916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57800" y="3063240"/>
            <a:ext cx="169164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 — batch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→ Iceberg rows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514600" y="3538728"/>
            <a:ext cx="1005840" cy="0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754880" y="3538728"/>
            <a:ext cx="502920" cy="0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520440" y="4572000"/>
            <a:ext cx="3429000" cy="960120"/>
          </a:xfrm>
          <a:prstGeom prst="roundRect">
            <a:avLst>
              <a:gd name="adj" fmla="val 5714"/>
            </a:avLst>
          </a:prstGeom>
          <a:solidFill>
            <a:srgbClr val="F4F9FC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4572000"/>
            <a:ext cx="342900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Archiver fn — on job DONE event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 statusChanged → move file to scs-raw-archive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80760" y="4023360"/>
            <a:ext cx="0" cy="548640"/>
          </a:xfrm>
          <a:prstGeom prst="line">
            <a:avLst/>
          </a:prstGeom>
          <a:noFill/>
          <a:ln w="22225">
            <a:solidFill>
              <a:srgbClr val="02C39A"/>
            </a:solidFill>
            <a:prstDash val="dash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199632" y="41330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JOB_STATE_DONE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635240" y="2011680"/>
            <a:ext cx="2240280" cy="2011680"/>
          </a:xfrm>
          <a:prstGeom prst="roundRect">
            <a:avLst>
              <a:gd name="adj" fmla="val 2727"/>
            </a:avLst>
          </a:prstGeom>
          <a:solidFill>
            <a:srgbClr val="DDEBF4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35240" y="2011680"/>
            <a:ext cx="224028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Iceberg tables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+ Lakehouse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catalog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shared_aws.*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0" y="2029968"/>
            <a:ext cx="1234440" cy="438912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6949440" y="3383280"/>
            <a:ext cx="685800" cy="155448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378440" y="2514600"/>
            <a:ext cx="13258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875">
            <a:solidFill>
              <a:srgbClr val="29B5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78440" y="2514600"/>
            <a:ext cx="13258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(zero-copy)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875520" y="3017520"/>
            <a:ext cx="502920" cy="0"/>
          </a:xfrm>
          <a:prstGeom prst="line">
            <a:avLst/>
          </a:prstGeom>
          <a:noFill/>
          <a:ln w="25400">
            <a:solidFill>
              <a:srgbClr val="29B5E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48640" y="5806440"/>
            <a:ext cx="11109960" cy="685800"/>
          </a:xfrm>
          <a:prstGeom prst="roundRect">
            <a:avLst>
              <a:gd name="adj" fmla="val 10667"/>
            </a:avLst>
          </a:prstGeom>
          <a:solidFill>
            <a:srgbClr val="EAF3F8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9AB0C4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77240" y="58064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feed is a template run with parameters — topic, table, commit interval — not new code. Both templates ship as one Java-enabled launcher image, built once in Cloud Build.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 controls — three-way reconciliation, config-driven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B0C4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3258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6459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Archived CSVs re-counted in GCS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+ sum(amount) recomputed from the archive ledger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118872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B0C4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13258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6459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Iceberg snapshot metadata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63440" y="21031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total-records read via the REST catalog — no scan, no compute cost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321040" y="118872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B0C4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549640" y="13258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49640" y="16459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Snowflake aggregates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549640" y="21031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/ SUM / nulls / dupes via the snow CLI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69080" y="2011680"/>
            <a:ext cx="365760" cy="0"/>
          </a:xfrm>
          <a:prstGeom prst="line">
            <a:avLst/>
          </a:prstGeom>
          <a:noFill/>
          <a:ln w="19050">
            <a:solidFill>
              <a:srgbClr val="6B7F9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4069080" y="2148840"/>
            <a:ext cx="365760" cy="0"/>
          </a:xfrm>
          <a:prstGeom prst="line">
            <a:avLst/>
          </a:prstGeom>
          <a:noFill/>
          <a:ln w="19050">
            <a:solidFill>
              <a:srgbClr val="6B7F94"/>
            </a:solidFill>
            <a:prstDash val="solid"/>
            <a:headEnd type="triangle"/>
          </a:ln>
        </p:spPr>
      </p:sp>
      <p:sp>
        <p:nvSpPr>
          <p:cNvPr id="17" name="Shape 15"/>
          <p:cNvSpPr/>
          <p:nvPr/>
        </p:nvSpPr>
        <p:spPr>
          <a:xfrm>
            <a:off x="7955280" y="2011680"/>
            <a:ext cx="365760" cy="0"/>
          </a:xfrm>
          <a:prstGeom prst="line">
            <a:avLst/>
          </a:prstGeom>
          <a:noFill/>
          <a:ln w="19050">
            <a:solidFill>
              <a:srgbClr val="6B7F9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7955280" y="2148840"/>
            <a:ext cx="365760" cy="0"/>
          </a:xfrm>
          <a:prstGeom prst="line">
            <a:avLst/>
          </a:prstGeom>
          <a:noFill/>
          <a:ln w="19050">
            <a:solidFill>
              <a:srgbClr val="6B7F94"/>
            </a:solidFill>
            <a:prstDash val="solid"/>
            <a:headEnd type="triangle"/>
          </a:ln>
        </p:spPr>
      </p:sp>
      <p:sp>
        <p:nvSpPr>
          <p:cNvPr id="19" name="Shape 17"/>
          <p:cNvSpPr/>
          <p:nvPr/>
        </p:nvSpPr>
        <p:spPr>
          <a:xfrm>
            <a:off x="548640" y="3246120"/>
            <a:ext cx="6858000" cy="3108960"/>
          </a:xfrm>
          <a:prstGeom prst="roundRect">
            <a:avLst>
              <a:gd name="adj" fmla="val 2353"/>
            </a:avLst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  <a:effectLst>
            <a:outerShdw sx="100000" sy="100000" kx="0" ky="0" algn="bl" rotWithShape="0" blurRad="76200" dist="25400" dir="5400000">
              <a:srgbClr val="9AB0C4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34747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RESULT: PASS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68680" y="4069080"/>
            <a:ext cx="62179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= 50 = 50</a:t>
            </a:r>
            <a:endParaRPr lang="en-US" sz="16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source CSVs = Iceberg = Snowflake</a:t>
            </a:r>
            <a:endParaRPr lang="en-US" sz="16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25,688.93 = 25,688.93</a:t>
            </a:r>
            <a:endParaRPr lang="en-US" sz="16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sum(amount): source vs Snowflake — exact to the penny</a:t>
            </a:r>
            <a:endParaRPr lang="en-US" sz="16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nulls · 0 duplicate keys</a:t>
            </a:r>
            <a:endParaRPr lang="en-US" sz="16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event_id and published_at across both tables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80960" y="324612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EAF3F8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76200" dist="25400" dir="5400000">
              <a:srgbClr val="9AB0C4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909560" y="3429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caught real drift on run one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909560" y="393192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counts matched, but sum(amount) disagreed by 670.85 — one file had been archived without loading, another loaded without archiving. The aggregate check exposed a silent divergence between the archive ledger and the lake in a 25-row POC.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909560" y="5852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validation.yaml — new feed = new stanza, no code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measured — and the six sharp edges we hit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4297680" cy="5212080"/>
          </a:xfrm>
          <a:prstGeom prst="roundRect">
            <a:avLst>
              <a:gd name="adj" fmla="val 1702"/>
            </a:avLst>
          </a:prstGeom>
          <a:solidFill>
            <a:srgbClr val="F4F9FC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B0C4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371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~90 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423160" y="1929384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→ Iceberg commit (streaming)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9900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1–10 min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423160" y="3044952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Iceberg → visible in Snowflake (nominal 30 s — measure before promising SLAs)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410565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~12 min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423160" y="41605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job wall-clock, startup-dominated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522122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2423160" y="5276088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at POC scale (DATA_TRANSFER_HISTORY)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120640" y="1188720"/>
            <a:ext cx="653796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B0C4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94960" y="1371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Sharp edges (all fixed in the repo)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40680" y="1874520"/>
            <a:ext cx="310896" cy="31089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13248" y="185623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0" y="1801368"/>
            <a:ext cx="5532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stockouts kill launches  —  </a:t>
            </a:r>
            <a:pPr algn="l" indent="0" marL="0">
              <a:buNone/>
            </a:pP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placement + e2 family for launcher AND workers; reservations (not CUDs) guarantee capacity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40680" y="2624328"/>
            <a:ext cx="310896" cy="31089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13248" y="26060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0" y="2551176"/>
            <a:ext cx="5532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argparse ate Beam’s --project  —  </a:t>
            </a:r>
            <a:pPr algn="l" indent="0" marL="0">
              <a:buNone/>
            </a:pP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abbreviation matched --project_id; allow_abbrev=False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40680" y="3374136"/>
            <a:ext cx="310896" cy="31089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13248" y="335584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0" y="3300984"/>
            <a:ext cx="5532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Iceberg I/O is cross-language  —  </a:t>
            </a:r>
            <a:pPr algn="l" indent="0" marL="0">
              <a:buNone/>
            </a:pP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flex launcher needs a JVM — custom launcher image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40680" y="4123944"/>
            <a:ext cx="310896" cy="31089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13248" y="410565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43600" y="4050792"/>
            <a:ext cx="5532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Vended-credentials header is mandatory  —  </a:t>
            </a:r>
            <a:pPr algn="l" indent="0" marL="0">
              <a:buNone/>
            </a:pP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jobs mask it as an infinite retry loop while showing Running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40680" y="4873752"/>
            <a:ext cx="310896" cy="31089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13248" y="485546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0" y="4800600"/>
            <a:ext cx="5532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Launcher wait_until_finish() is a no-op  —  </a:t>
            </a:r>
            <a:pPr algn="l" indent="0" marL="0">
              <a:buNone/>
            </a:pP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archived the input mid-preflight; archive is now event-driven on job DONE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40680" y="5623560"/>
            <a:ext cx="310896" cy="31089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13248" y="560527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943600" y="5550408"/>
            <a:ext cx="5532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discards acked streaming messages  —  </a:t>
            </a:r>
            <a:pPr algn="l" indent="0" marL="0">
              <a:buNone/>
            </a:pP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Engine acks on persistence — drain, or expect to republish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1A3A5C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9AB0C4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554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hardening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as a Cloud Run job — Scheduler cron + post-batch event, alerts to Pub/Sub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guardrails: resource monitors + a DATA_TRANSFER_HISTORY dashboard, per ADR-0006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→ standardized → curated zones as catalog namespaces; share only curated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Drain-based relaunch automation for streaming template updates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adoption: import existing resources, two-phase WIF apply (terraform/README)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92240" y="1371600"/>
            <a:ext cx="4892040" cy="4480560"/>
          </a:xfrm>
          <a:prstGeom prst="roundRect">
            <a:avLst>
              <a:gd name="adj" fmla="val 1633"/>
            </a:avLst>
          </a:prstGeom>
          <a:solidFill>
            <a:srgbClr val="1A3A5C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9AB0C4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66560" y="15544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 this pattern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2148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speaks Iceberg REST?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66560" y="25146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Snowflake, Spark, Trino → zero-copy federation (this design)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766560" y="33558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S3-only consumer or hot table?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66560" y="3721608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path — built &amp; tested, see appendix (one sync cost, intra-region reads)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766560" y="456285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scan ≫ table size?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66560" y="4928616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that hot table; keep federating the long tail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github.com/jeremydegardeyn/iceberg-zero-copy-poc  ·  docs/spec.md · docs/adr/ · docs/as-run.md (full failure log)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22960" y="35661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The production-readiness argument      B — Trade-offs: two consumption paths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Runbook: zero-copy federation      D — Runbook: S3 replica      E — ADR index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— “Fine for a POC, not production”: the argument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15568"/>
            <a:ext cx="111099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B0C4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1887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“Egress is uncontrolled cost”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794760" y="1170432"/>
            <a:ext cx="7635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Metered from query one (DATA_TRANSFER_HISTORY); 30-day break-even rule per table (ADR-06); the escape valve for hot tables is built and tested — the replica path. A measured cost with a tested fallback is a cost model, not a flaw.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1109960" cy="786384"/>
          </a:xfrm>
          <a:prstGeom prst="roundRect">
            <a:avLst>
              <a:gd name="adj" fmla="val 9302"/>
            </a:avLst>
          </a:prstGeom>
          <a:solidFill>
            <a:srgbClr val="F4F9FC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B0C4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08483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“Freshness misses SLAs”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794760" y="2066544"/>
            <a:ext cx="7635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analytics-grade reads, serving paths excluded by design (ADR-02). Minutes-level freshness with zero pipelines still beats replication pipelines that add lag plus divergence risk.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907792"/>
            <a:ext cx="111099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B0C4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980944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“Six failures in one afternoon”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794760" y="2962656"/>
            <a:ext cx="7635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were integration engineering, fixed same-day, production-grade fix committed. A documented failure catalog is evidence the hardening is enumerable — the opposite of open-ended risk.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803904"/>
            <a:ext cx="11109960" cy="786384"/>
          </a:xfrm>
          <a:prstGeom prst="roundRect">
            <a:avLst>
              <a:gd name="adj" fmla="val 9302"/>
            </a:avLst>
          </a:prstGeom>
          <a:solidFill>
            <a:srgbClr val="F4F9FC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B0C4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877056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“Immature technology”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794760" y="3858768"/>
            <a:ext cx="7635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Load-bearing pieces are GA-to-ancient (Iceberg, external volumes, WIF, Dataflow). A large regulated bank runs the equivalent architecture in production for payment data — the pattern is not a bet.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700016"/>
            <a:ext cx="111099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B0C4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477316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“Catalog lock-in”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794760" y="4754880"/>
            <a:ext cx="7635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Control-plane only: data files are open Parquet/Iceberg; register_table is the exit. The replica increment literally re-registered the same table under a different catalog on a different cloud.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571500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EAF3F8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5400000">
              <a:srgbClr val="9AB0C4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571500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Honestly outstanding (weeks, no research risk):  </a:t>
            </a:r>
            <a:pPr indent="0" marL="0">
              <a:buNone/>
            </a:pP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 SLO validation at real scale · egress monitors/dashboard deployment · ops packaging (scheduled validation + replica refresh, drain-based relaunch, Terraform import). “Not yet productionized” ≠ “flawed for production.”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Trade-offs: two consumption paths, one catalog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EAF3F8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B0C4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325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Zero-copy federation (default)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286000" y="1828800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per-query egress ($90–155/TB scanned), $0 standing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505456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286000" y="2505456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inherent — latest committed snapshot (measured: 1–10 min)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182112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286000" y="3182112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per feed; no pipelines exist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858768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286000" y="3858768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Iceberg-REST engine (Snowflake, Spark, Trino)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535424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when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286000" y="4535424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default; long-tail tables; freshness matters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114300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4F9FC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B0C4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37960" y="1325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 replica (ADR-02 option C)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37960" y="1828800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001000" y="1828800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transfer per sync; intra-region reads are egress-free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2505456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01000" y="2505456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by design between syncs (scheduled refresh)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3182112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001000" y="3182112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rewrite_table_path + copy plan per refresh; schedulable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37960" y="3858768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001000" y="3858768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S3-only engines (Athena, Redshift)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37960" y="4535424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when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001000" y="4535424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scan ≫ table size, or S3-only consumers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532120"/>
            <a:ext cx="11109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B0C4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77240" y="5532120"/>
            <a:ext cx="10652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deeper topology trade-off:  </a:t>
            </a:r>
            <a:pPr indent="0" marL="0">
              <a:buNone/>
            </a:pP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POC keeps the lake on the producer cloud (no ingest copy, pay egress per query). The consumer-cloud-lake variant pays the cross-cloud hop once at ingest instead. Same pattern, one knob — both legs are now implemented and priceable per table.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— Runbook: zero-copy federation path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225296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0700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34440" y="1170432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+ bucket   </a:t>
            </a:r>
            <a:pPr indent="0" marL="0">
              <a:buNone/>
            </a:pP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01_gcp_catalog_setup.sh — IRC catalog w/ vended credentials; grant runtime SA storage.objectUser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1938528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9202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883664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table   </a:t>
            </a:r>
            <a:pPr indent="0" marL="0">
              <a:buNone/>
            </a:pP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02_create_table.sh — Dataproc Serverless creates shared_aws.orders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2651760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63347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2596896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 trust   </a:t>
            </a:r>
            <a:pPr indent="0" marL="0">
              <a:buNone/>
            </a:pP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URL from Snowflake → 03_wif_setup.sh pool → catalog integration (VENDED_CREDENTIALS) → grant subject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3364992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34670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310128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Catalog-linked DB   </a:t>
            </a:r>
            <a:pPr indent="0" marL="0">
              <a:buNone/>
            </a:pP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DATABASE ... LINKED_CATALOG; discovery is async (~1 min)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4078224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05993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4023360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Zero-copy read + freshness   </a:t>
            </a:r>
            <a:pPr indent="0" marL="0">
              <a:buNone/>
            </a:pP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in Snowflake; append on GCP; re-count — no pipeline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4791456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477316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4736592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(optional)   </a:t>
            </a:r>
            <a:pPr indent="0" marL="0">
              <a:buNone/>
            </a:pP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templates: 06_run_streaming.sh / 08_run_batch.sh; validate with 09_validate.sh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589520" y="1170432"/>
            <a:ext cx="4069080" cy="4572000"/>
          </a:xfrm>
          <a:prstGeom prst="roundRect">
            <a:avLst>
              <a:gd name="adj" fmla="val 1798"/>
            </a:avLst>
          </a:prstGeom>
          <a:solidFill>
            <a:srgbClr val="F4F9FC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B0C4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818120" y="13258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Sharp edges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818120" y="1737360"/>
            <a:ext cx="3611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SA bucket grant is NOT automatic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 subject needs serviceUsageConsumer too (x-goog-user-project)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 REPLACE integration mints a NEW subject — re-grant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ACCESS_DELEGATION_MODE=VENDED_CREDENTIALS is mandatory for CLDs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X-Iceberg-Access-Delegation header on ALL table ops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propagation ~45 s; CLD discovery ~1 min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detail: docs/runbook-zero-copy.md + docs/as-run.md (every failure and fix, in order).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— Runbook: S3 replica path (ADR-02 option C)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225296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0700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34440" y="1170432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bucket + role   </a:t>
            </a:r>
            <a:pPr indent="0" marL="0">
              <a:buNone/>
            </a:pP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11_aws_replica_setup.py create — bucket in us-east-2 (same region as Snowflake = intra-region reads), read-only role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1938528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9202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883664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volume   </a:t>
            </a:r>
            <a:pPr indent="0" marL="0">
              <a:buNone/>
            </a:pP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EXTERNAL VOLUME (ALLOW_WRITES=FALSE); DESC gives Snowflake's IAM user + external id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2651760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63347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2596896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handshake   </a:t>
            </a:r>
            <a:pPr indent="0" marL="0">
              <a:buNone/>
            </a:pP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11_aws_replica_setup.py trust — only that user, that external id, that one bucket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3364992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34670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310128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  </a:t>
            </a:r>
            <a:pPr indent="0" marL="0">
              <a:buNone/>
            </a:pP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10_replicate_to_s3.sh — rewrite_table_path stages s3:// metadata + copy plan (Iceberg paths are absolute!)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4078224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05993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4023360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+ verify   </a:t>
            </a:r>
            <a:pPr indent="0" marL="0">
              <a:buNone/>
            </a:pP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OBJECT_STORE catalog integration + CREATE ICEBERG TABLE w/ METADATA_FILE_PATH; compare vs zero-copy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4791456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477316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4736592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  </a:t>
            </a:r>
            <a:pPr indent="0" marL="0">
              <a:buNone/>
            </a:pP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rerun step 4 + ALTER ICEBERG TABLE ... REFRESH; incremental mode copies deltas only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589520" y="1170432"/>
            <a:ext cx="4069080" cy="4572000"/>
          </a:xfrm>
          <a:prstGeom prst="roundRect">
            <a:avLst>
              <a:gd name="adj" fmla="val 1798"/>
            </a:avLst>
          </a:prstGeom>
          <a:solidFill>
            <a:srgbClr val="F4F9FC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B0C4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818120" y="13258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Sharp edges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818120" y="1737360"/>
            <a:ext cx="3611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 IAM user has ZERO permissions — attach policy before anything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Iceberg metadata stores absolute paths — never raw-copy a table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Hyphenated catalog names must be backtick-quoted in Spark CALL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must live INSIDE the table location — vended credentials are table-prefix-scoped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rewrite copy plan is a Spark output directory of part-files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 REPLACE EXTERNAL VOLUME mints a new external id — redo trust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2026-07-16: both paths returned identical results from Snowflake (4 rows, 467.75). Full detail: docs/runbook-s3-replica.md.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— ADR index (full records in docs/adr/)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109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B0C4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362456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62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17320" y="1261872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Iceberg as the cross-cloud table format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92240" y="1261872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format owns the contract; engine choices stay reversible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469880" y="1417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2029968"/>
            <a:ext cx="11109960" cy="73152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B0C4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203704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203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17320" y="2103120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Zero-copy catalog federation over replication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92240" y="2103120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authoritative copy; option C (replica) kept as the sanctioned fallback — now tested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469880" y="2258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2871216"/>
            <a:ext cx="11109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B0C4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3044952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17320" y="2944368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BigLake (Lakehouse) metastore as the catalog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92240" y="2944368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IRC + vending; BigQuery reads the same tables; Polaris exit via register_table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469880" y="3099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" y="3712464"/>
            <a:ext cx="11109960" cy="73152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B0C4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" y="3886200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417320" y="3785616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Keyless auth: WIF + credential vending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92240" y="3785616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standing secrets; per-table, expiring storage scope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469880" y="39410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48640" y="4553712"/>
            <a:ext cx="11109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B0C4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2960" y="4727448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727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417320" y="4626864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writer on GCP; read-only consumers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92240" y="4626864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accountable owner; compaction quality = consumer cost lever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469880" y="47823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8640" y="5394960"/>
            <a:ext cx="11109960" cy="73152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B0C4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22960" y="5568696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5568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417320" y="5468112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per-query egress + break-even review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492240" y="5468112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day one; replicate hot tables, federate the long tail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469880" y="5623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2026-07-16T15:23:45Z</dcterms:created>
  <dcterms:modified xsi:type="dcterms:W3CDTF">2026-07-16T15:23:45Z</dcterms:modified>
</cp:coreProperties>
</file>